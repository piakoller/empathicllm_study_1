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3" r:id="rId25"/>
    <p:sldId id="270" r:id="rId12"/>
    <p:sldId id="266" r:id="rId13"/>
    <p:sldId id="267" r:id="rId14"/>
    <p:sldId id="268" r:id="rId15"/>
    <p:sldId id="271" r:id="rId16"/>
    <p:sldId id="272" r:id="rId24"/>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41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openxmlformats.org/officeDocument/2006/relationships/slide" Target="slides/slide16.xml"/><Relationship Id="rId25"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ler, Pia Elisabeth (STUDENTS)" userId="02de994a-b30f-4b3b-a12d-8adb9c4a9672" providerId="ADAL" clId="{840FF6AF-9ED8-422E-A673-A2E71D182940}"/>
    <pc:docChg chg="undo custSel modSld">
      <pc:chgData name="Koller, Pia Elisabeth (STUDENTS)" userId="02de994a-b30f-4b3b-a12d-8adb9c4a9672" providerId="ADAL" clId="{840FF6AF-9ED8-422E-A673-A2E71D182940}" dt="2026-10-28T07:47:46.514" v="38" actId="6549"/>
      <pc:docMkLst>
        <pc:docMk/>
      </pc:docMkLst>
      <pc:sldChg chg="modSp mod">
        <pc:chgData name="Koller, Pia Elisabeth (STUDENTS)" userId="02de994a-b30f-4b3b-a12d-8adb9c4a9672" providerId="ADAL" clId="{840FF6AF-9ED8-422E-A673-A2E71D182940}" dt="2026-10-28T07:47:46.514" v="38" actId="6549"/>
        <pc:sldMkLst>
          <pc:docMk/>
          <pc:sldMk cId="0" sldId="261"/>
        </pc:sldMkLst>
        <pc:spChg chg="mod">
          <ac:chgData name="Koller, Pia Elisabeth (STUDENTS)" userId="02de994a-b30f-4b3b-a12d-8adb9c4a9672" providerId="ADAL" clId="{840FF6AF-9ED8-422E-A673-A2E71D182940}" dt="2026-10-28T07:47:46.514" v="38" actId="6549"/>
          <ac:spMkLst>
            <pc:docMk/>
            <pc:sldMk cId="0" sldId="261"/>
            <ac:spMk id="6" creationId="{00000000-0000-0000-0000-000000000000}"/>
          </ac:spMkLst>
        </pc:spChg>
      </pc:sldChg>
      <pc:sldChg chg="mod modShow">
        <pc:chgData name="Koller, Pia Elisabeth (STUDENTS)" userId="02de994a-b30f-4b3b-a12d-8adb9c4a9672" providerId="ADAL" clId="{840FF6AF-9ED8-422E-A673-A2E71D182940}" dt="2026-10-27T20:57:20.620" v="34" actId="729"/>
        <pc:sldMkLst>
          <pc:docMk/>
          <pc:sldMk cId="0" sldId="266"/>
        </pc:sldMkLst>
      </pc:sldChg>
      <pc:sldChg chg="modSp mod">
        <pc:chgData name="Koller, Pia Elisabeth (STUDENTS)" userId="02de994a-b30f-4b3b-a12d-8adb9c4a9672" providerId="ADAL" clId="{840FF6AF-9ED8-422E-A673-A2E71D182940}" dt="2026-10-27T20:55:28.901" v="6" actId="6549"/>
        <pc:sldMkLst>
          <pc:docMk/>
          <pc:sldMk cId="0" sldId="268"/>
        </pc:sldMkLst>
        <pc:spChg chg="mod">
          <ac:chgData name="Koller, Pia Elisabeth (STUDENTS)" userId="02de994a-b30f-4b3b-a12d-8adb9c4a9672" providerId="ADAL" clId="{840FF6AF-9ED8-422E-A673-A2E71D182940}" dt="2026-10-27T20:55:28.901" v="6" actId="6549"/>
          <ac:spMkLst>
            <pc:docMk/>
            <pc:sldMk cId="0" sldId="268"/>
            <ac:spMk id="2" creationId="{00000000-0000-0000-0000-000000000000}"/>
          </ac:spMkLst>
        </pc:spChg>
        <pc:graphicFrameChg chg="modGraphic">
          <ac:chgData name="Koller, Pia Elisabeth (STUDENTS)" userId="02de994a-b30f-4b3b-a12d-8adb9c4a9672" providerId="ADAL" clId="{840FF6AF-9ED8-422E-A673-A2E71D182940}" dt="2026-10-27T20:55:20.103" v="5" actId="2165"/>
          <ac:graphicFrameMkLst>
            <pc:docMk/>
            <pc:sldMk cId="0" sldId="268"/>
            <ac:graphicFrameMk id="6" creationId="{00000000-0000-0000-0000-000000000000}"/>
          </ac:graphicFrameMkLst>
        </pc:graphicFrameChg>
      </pc:sldChg>
      <pc:sldChg chg="modSp mod">
        <pc:chgData name="Koller, Pia Elisabeth (STUDENTS)" userId="02de994a-b30f-4b3b-a12d-8adb9c4a9672" providerId="ADAL" clId="{840FF6AF-9ED8-422E-A673-A2E71D182940}" dt="2026-10-27T20:56:04.088" v="33" actId="6549"/>
        <pc:sldMkLst>
          <pc:docMk/>
          <pc:sldMk cId="0" sldId="269"/>
        </pc:sldMkLst>
        <pc:spChg chg="mod">
          <ac:chgData name="Koller, Pia Elisabeth (STUDENTS)" userId="02de994a-b30f-4b3b-a12d-8adb9c4a9672" providerId="ADAL" clId="{840FF6AF-9ED8-422E-A673-A2E71D182940}" dt="2026-10-27T20:56:04.088" v="33" actId="6549"/>
          <ac:spMkLst>
            <pc:docMk/>
            <pc:sldMk cId="0" sldId="269"/>
            <ac:spMk id="6" creationId="{00000000-0000-0000-0000-000000000000}"/>
          </ac:spMkLst>
        </pc:spChg>
      </pc:sldChg>
      <pc:sldChg chg="modSp mod">
        <pc:chgData name="Koller, Pia Elisabeth (STUDENTS)" userId="02de994a-b30f-4b3b-a12d-8adb9c4a9672" providerId="ADAL" clId="{840FF6AF-9ED8-422E-A673-A2E71D182940}" dt="2026-10-27T21:57:20.835" v="37" actId="20577"/>
        <pc:sldMkLst>
          <pc:docMk/>
          <pc:sldMk cId="0" sldId="270"/>
        </pc:sldMkLst>
        <pc:spChg chg="mod">
          <ac:chgData name="Koller, Pia Elisabeth (STUDENTS)" userId="02de994a-b30f-4b3b-a12d-8adb9c4a9672" providerId="ADAL" clId="{840FF6AF-9ED8-422E-A673-A2E71D182940}" dt="2026-10-27T21:57:20.835" v="37" actId="20577"/>
          <ac:spMkLst>
            <pc:docMk/>
            <pc:sldMk cId="0" sldId="270"/>
            <ac:spMk id="1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0"/>
    <c:plotArea>
      <c:layout/>
      <c:lineChart>
        <c:grouping val="standard"/>
        <c:varyColors val="0"/>
        <c:ser>
          <c:idx val="0"/>
          <c:order val="0"/>
          <c:tx>
            <c:strRef>
              <c:f>Sheet1!$B$1</c:f>
              <c:strCache>
                <c:ptCount val="1"/>
                <c:pt idx="0">
                  <c:v>Three ways of writing</c:v>
                </c:pt>
              </c:strCache>
            </c:strRef>
          </c:tx>
          <c:spPr>
            <a:ln w="25400">
              <a:solidFill>
                <a:srgbClr val="222222"/>
              </a:solidFill>
            </a:ln>
          </c:spPr>
          <c:marker>
            <c:symbol val="circle"/>
            <c:size val="5"/>
            <c:spPr>
              <a:solidFill>
                <a:srgbClr val="222222"/>
              </a:solidFill>
              <a:ln>
                <a:solidFill>
                  <a:srgbClr val="222222"/>
                </a:solidFill>
              </a:ln>
            </c:spPr>
          </c:marker>
          <c:cat>
            <c:strRef>
              <c:f>Sheet1!$A$2:$A$6</c:f>
              <c:strCache>
                <c:ptCount val="5"/>
                <c:pt idx="0">
                  <c:v>20</c:v>
                </c:pt>
                <c:pt idx="1">
                  <c:v>40</c:v>
                </c:pt>
                <c:pt idx="2">
                  <c:v>60</c:v>
                </c:pt>
                <c:pt idx="3">
                  <c:v>80</c:v>
                </c:pt>
                <c:pt idx="4">
                  <c:v>100</c:v>
                </c:pt>
              </c:strCache>
            </c:strRef>
          </c:cat>
          <c:val>
            <c:numRef>
              <c:f>Sheet1!$B$2:$B$6</c:f>
              <c:numCache>
                <c:formatCode>General</c:formatCode>
                <c:ptCount val="5"/>
                <c:pt idx="0">
                  <c:v>0.35499999999999998</c:v>
                </c:pt>
                <c:pt idx="1">
                  <c:v>0.63</c:v>
                </c:pt>
                <c:pt idx="2">
                  <c:v>0.77500000000000002</c:v>
                </c:pt>
                <c:pt idx="3">
                  <c:v>0.87</c:v>
                </c:pt>
                <c:pt idx="4">
                  <c:v>0.96</c:v>
                </c:pt>
              </c:numCache>
            </c:numRef>
          </c:val>
          <c:smooth val="0"/>
          <c:extLst>
            <c:ext xmlns:c16="http://schemas.microsoft.com/office/drawing/2014/chart" uri="{C3380CC4-5D6E-409C-BE32-E72D297353CC}">
              <c16:uniqueId val="{00000000-B3BB-4F6F-8913-CB505A73A53A}"/>
            </c:ext>
          </c:extLst>
        </c:ser>
        <c:ser>
          <c:idx val="1"/>
          <c:order val="1"/>
          <c:tx>
            <c:strRef>
              <c:f>Sheet1!$C$1</c:f>
              <c:strCache>
                <c:ptCount val="1"/>
                <c:pt idx="0">
                  <c:v>target 80 %</c:v>
                </c:pt>
              </c:strCache>
            </c:strRef>
          </c:tx>
          <c:spPr>
            <a:ln w="25400">
              <a:solidFill>
                <a:srgbClr val="BFBFBF"/>
              </a:solidFill>
              <a:prstDash val="dash"/>
            </a:ln>
          </c:spPr>
          <c:marker>
            <c:symbol val="none"/>
          </c:marker>
          <c:cat>
            <c:strRef>
              <c:f>Sheet1!$A$2:$A$6</c:f>
              <c:strCache>
                <c:ptCount val="5"/>
                <c:pt idx="0">
                  <c:v>20</c:v>
                </c:pt>
                <c:pt idx="1">
                  <c:v>40</c:v>
                </c:pt>
                <c:pt idx="2">
                  <c:v>60</c:v>
                </c:pt>
                <c:pt idx="3">
                  <c:v>80</c:v>
                </c:pt>
                <c:pt idx="4">
                  <c:v>100</c:v>
                </c:pt>
              </c:strCache>
            </c:strRef>
          </c:cat>
          <c:val>
            <c:numRef>
              <c:f>Sheet1!$C$2:$C$6</c:f>
              <c:numCache>
                <c:formatCode>General</c:formatCode>
                <c:ptCount val="5"/>
                <c:pt idx="0">
                  <c:v>0.8</c:v>
                </c:pt>
                <c:pt idx="1">
                  <c:v>0.8</c:v>
                </c:pt>
                <c:pt idx="2">
                  <c:v>0.8</c:v>
                </c:pt>
                <c:pt idx="3">
                  <c:v>0.8</c:v>
                </c:pt>
                <c:pt idx="4">
                  <c:v>0.8</c:v>
                </c:pt>
              </c:numCache>
            </c:numRef>
          </c:val>
          <c:smooth val="0"/>
          <c:extLst>
            <c:ext xmlns:c16="http://schemas.microsoft.com/office/drawing/2014/chart" uri="{C3380CC4-5D6E-409C-BE32-E72D297353CC}">
              <c16:uniqueId val="{00000001-B3BB-4F6F-8913-CB505A73A53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de-DE" sz="1200" b="0">
                    <a:latin typeface="Arial"/>
                  </a:rPr>
                  <a:t>Number of participants</a:t>
                </a:r>
              </a:p>
            </c:rich>
          </c:tx>
          <c:overlay val="0"/>
        </c:title>
        <c:numFmt formatCode="General" sourceLinked="0"/>
        <c:majorTickMark val="out"/>
        <c:minorTickMark val="none"/>
        <c:tickLblPos val="nextTo"/>
        <c:txPr>
          <a:bodyPr/>
          <a:lstStyle/>
          <a:p>
            <a:pPr>
              <a:defRPr sz="1200">
                <a:latin typeface="Arial"/>
              </a:defRPr>
            </a:pPr>
            <a:endParaRPr lang="de-DE"/>
          </a:p>
        </c:txPr>
        <c:crossAx val="2140495176"/>
        <c:crosses val="autoZero"/>
        <c:auto val="1"/>
        <c:lblAlgn val="ctr"/>
        <c:lblOffset val="100"/>
        <c:noMultiLvlLbl val="0"/>
      </c:catAx>
      <c:valAx>
        <c:axId val="2140495176"/>
        <c:scaling>
          <c:orientation val="minMax"/>
          <c:max val="1"/>
          <c:min val="0"/>
        </c:scaling>
        <c:delete val="0"/>
        <c:axPos val="l"/>
        <c:majorGridlines>
          <c:spPr>
            <a:ln>
              <a:solidFill>
                <a:srgbClr val="E5E5E5"/>
              </a:solidFill>
            </a:ln>
          </c:spPr>
        </c:majorGridlines>
        <c:numFmt formatCode="0%" sourceLinked="0"/>
        <c:majorTickMark val="out"/>
        <c:minorTickMark val="none"/>
        <c:tickLblPos val="nextTo"/>
        <c:txPr>
          <a:bodyPr/>
          <a:lstStyle/>
          <a:p>
            <a:pPr>
              <a:defRPr sz="1200">
                <a:latin typeface="Arial"/>
              </a:defRPr>
            </a:pPr>
            <a:endParaRPr lang="de-DE"/>
          </a:p>
        </c:txPr>
        <c:crossAx val="2118791784"/>
        <c:crosses val="autoZero"/>
        <c:crossBetween val="between"/>
        <c:majorUnit val="0.2"/>
      </c:valAx>
    </c:plotArea>
    <c:legend>
      <c:legendPos val="b"/>
      <c:overlay val="0"/>
      <c:txPr>
        <a:bodyPr/>
        <a:lstStyle/>
        <a:p>
          <a:pPr>
            <a:defRPr sz="1200">
              <a:latin typeface="Arial"/>
            </a:defRPr>
          </a:pPr>
          <a:endParaRPr lang="de-DE"/>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DB579-8750-4183-94A8-2764ECB6CFEC}" type="datetimeFigureOut">
              <a:rPr lang="de-DE" smtClean="0"/>
              <a:t>28.10.2026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C07AB4-6CE1-49F0-A1E3-277FBD48E8DE}" type="slidenum">
              <a:rPr lang="de-DE" smtClean="0"/>
              <a:t>‹Nr.›</a:t>
            </a:fld>
            <a:endParaRPr lang="de-DE"/>
          </a:p>
        </p:txBody>
      </p:sp>
    </p:spTree>
    <p:extLst>
      <p:ext uri="{BB962C8B-B14F-4D97-AF65-F5344CB8AC3E}">
        <p14:creationId xmlns:p14="http://schemas.microsoft.com/office/powerpoint/2010/main" val="221960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title at the ethics committee: Uncertainty-Aware Large Language Models in Nuclear Medicine.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arms. Everything is the same except the instruction to the LLM: same model (MedGemma 27B, a medical language model from Google, running on our own server), same sources, same writing rules (short, simple words, answer in the first sentence). Direct Empathy uses the NURSE model of empathic communication in its instruction. Two-Stage: step 1 lists the facts, step 2 may only reword them, not add new facts.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Technical names: token log-probabilities, perplexity, token entropy, top-1/top-2 gap (model); TF-IDF and NLI agreement between 5 sampled candidates (consistency); similarity of the retrieved passages (sources); emotion classifier; verbalised confidence. Combined with weights into U_clinical and U_empathy. They are computed from the 5 drafts per question; the answer shown is written separately with the same instruction and 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Exploratory: 60 answers in total, so these are first indications. Each rating is stored with the answer, so the numbers can be joined afterwards.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Insel patient information added to the sources, unrelated text sections filtered out, better ranking of sources: the right source passages are found for 71 % of the questions.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Flesch reading ease, German version by Amstad: 180 − average sentence length − 58.5 × average syllables per word. Screening: answer in the first sentence, at most 150 words, no drug names, no talk about sources, no letter phrases.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Benchmark only, not shown to patients. Same LLM, instructions and settings, runs of 27 Oct 2026; 'without sources' means the LLM answers from what it learned in training (no retrieval). Key facts checked by text search in 5 questions: no cure (Q1), 3 days in hospital (Q9), no visitors (Q10, Q13), cycles every 6-8 weeks (Q20). Uncertainty about the facts: 0.30-0.32 with sources, 0.30-0.34 without. Note: the shared writing rules mention the Insel patient information even when no sources are given, which is why the LLM refers to it without sources.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screenshots of the app on a phone (local test with demo data).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Screenshot: end of the study with the information sheet.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Flyer and poster, Figma export of 27 Oct 2026: duration, 10 answers, patient rating options and data description updated; the line about an ethics approval was removed.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ethics committee (KEK Bern, Req-2026-00886, 22 June 2026) decided that the project is outside the Human Research Act. That decision is based on our description; three points differ now.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Simulation: Clinical Only rated 'clear and reassuring' in 30 % of answers, Two-Stage 15 points higher. Three ways of writing (decided 27 Oct). Power = chance that the study shows the difference if it is real; 80 % is the usual target. 20 patients + 20 doctors analysed together give about the same as 40 patients, if the effect is the same in both groups.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Proposed; to be agreed in the meeting.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on Monday 16 November, one week before the holiday (from 24 November). The test run uses colleagues instead of patients: it checks the app, timing and wording; how patients react is watched in the first week of the study, which can be paused if something comes up. Test records are removed from MongoDB.</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Decision 1 is the main point; 2-5 decide whether the app changes before the test run.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with the app's assignment: Clinical Only rated 'clear and reassuring' in 30 % of answers, Two-Stage 15 or 20 points higher, 200 simulated studies per cell. Pooling patients and doctors assumes statement A counts as the same outcome in both groups and a similar effect.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after the meeting of 28 Oct at the supervisor's request. Certainty instead of for/against, because many patients are already in therapy. Dosimetry was dropped as an example because it is hardly done at Insel. No new answers are needed; the same 60 answers are used.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2377440"/>
            <a:ext cx="10881360" cy="731520"/>
          </a:xfrm>
          <a:prstGeom prst="rect">
            <a:avLst/>
          </a:prstGeom>
          <a:noFill/>
        </p:spPr>
        <p:txBody>
          <a:bodyPr wrap="square" lIns="0" tIns="0" rIns="0" bIns="0" anchor="t">
            <a:spAutoFit/>
          </a:bodyPr>
          <a:lstStyle/>
          <a:p>
            <a:pPr algn="l">
              <a:spcAft>
                <a:spcPts val="600"/>
              </a:spcAft>
            </a:pPr>
            <a:r>
              <a:rPr sz="3600" b="1">
                <a:solidFill>
                  <a:srgbClr val="222222"/>
                </a:solidFill>
                <a:latin typeface="Arial"/>
              </a:rPr>
              <a:t>empathicLLM – patient study</a:t>
            </a:r>
          </a:p>
        </p:txBody>
      </p:sp>
      <p:sp>
        <p:nvSpPr>
          <p:cNvPr id="3" name="TextBox 2"/>
          <p:cNvSpPr txBox="1"/>
          <p:nvPr/>
        </p:nvSpPr>
        <p:spPr>
          <a:xfrm>
            <a:off x="640080" y="3108960"/>
            <a:ext cx="10881360" cy="457200"/>
          </a:xfrm>
          <a:prstGeom prst="rect">
            <a:avLst/>
          </a:prstGeom>
          <a:noFill/>
        </p:spPr>
        <p:txBody>
          <a:bodyPr wrap="square" lIns="0" tIns="0" rIns="0" bIns="0" anchor="t">
            <a:spAutoFit/>
          </a:bodyPr>
          <a:lstStyle/>
          <a:p>
            <a:pPr algn="l">
              <a:spcAft>
                <a:spcPts val="600"/>
              </a:spcAft>
            </a:pPr>
            <a:r>
              <a:rPr sz="2200" b="0">
                <a:solidFill>
                  <a:srgbClr val="707070"/>
                </a:solidFill>
                <a:latin typeface="Arial"/>
              </a:rPr>
              <a:t>Can an LLM answer patients' questions about PSMA therapy well?</a:t>
            </a:r>
          </a:p>
        </p:txBody>
      </p:sp>
      <p:sp>
        <p:nvSpPr>
          <p:cNvPr id="4" name="TextBox 3"/>
          <p:cNvSpPr txBox="1"/>
          <p:nvPr/>
        </p:nvSpPr>
        <p:spPr>
          <a:xfrm>
            <a:off x="640080" y="4023360"/>
            <a:ext cx="10881360" cy="365760"/>
          </a:xfrm>
          <a:prstGeom prst="rect">
            <a:avLst/>
          </a:prstGeom>
          <a:noFill/>
        </p:spPr>
        <p:txBody>
          <a:bodyPr wrap="square" lIns="0" tIns="0" rIns="0" bIns="0" anchor="t">
            <a:spAutoFit/>
          </a:bodyPr>
          <a:lstStyle/>
          <a:p>
            <a:pPr algn="l">
              <a:spcAft>
                <a:spcPts val="600"/>
              </a:spcAft>
            </a:pPr>
            <a:r>
              <a:rPr sz="1600" b="0">
                <a:solidFill>
                  <a:srgbClr val="707070"/>
                </a:solidFill>
                <a:latin typeface="Arial"/>
              </a:rPr>
              <a:t>Pia Koller · 28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The idea in short</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2</a:t>
            </a:r>
          </a:p>
        </p:txBody>
      </p:sp>
      <p:sp>
        <p:nvSpPr>
          <p:cNvPr id="6" name="TextBox 5"/>
          <p:cNvSpPr txBox="1"/>
          <p:nvPr/>
        </p:nvSpPr>
        <p:spPr>
          <a:xfrm>
            <a:off x="640080" y="1463040"/>
            <a:ext cx="10881360" cy="2377440"/>
          </a:xfrm>
          <a:prstGeom prst="rect">
            <a:avLst/>
          </a:prstGeom>
          <a:noFill/>
        </p:spPr>
        <p:txBody>
          <a:bodyPr wrap="square" lIns="0" tIns="0" rIns="0" bIns="0" anchor="t">
            <a:spAutoFit/>
          </a:bodyPr>
          <a:lstStyle/>
          <a:p>
            <a:pPr algn="l">
              <a:spcAft>
                <a:spcPts val="1400"/>
              </a:spcAft>
            </a:pPr>
            <a:r>
              <a:rPr sz="1800" b="0">
                <a:solidFill>
                  <a:srgbClr val="222222"/>
                </a:solidFill>
                <a:latin typeface="Arial"/>
              </a:rPr>
              <a:t>–  Patients before a PSMA therapy have many questions: side effects, radiation, how long they stay in hospital</a:t>
            </a:r>
          </a:p>
          <a:p>
            <a:pPr algn="l">
              <a:spcAft>
                <a:spcPts val="1400"/>
              </a:spcAft>
            </a:pPr>
            <a:r>
              <a:rPr sz="1800" b="0">
                <a:solidFill>
                  <a:srgbClr val="222222"/>
                </a:solidFill>
                <a:latin typeface="Arial"/>
              </a:rPr>
              <a:t>–  A large language model (LLM, like ChatGPT) could answer these questions</a:t>
            </a:r>
          </a:p>
          <a:p>
            <a:pPr algn="l">
              <a:spcAft>
                <a:spcPts val="1400"/>
              </a:spcAft>
            </a:pPr>
            <a:r>
              <a:rPr sz="1800" b="0">
                <a:solidFill>
                  <a:srgbClr val="222222"/>
                </a:solidFill>
                <a:latin typeface="Arial"/>
              </a:rPr>
              <a:t>–  A good answer must be correct and easy to understand – and ideally also kind</a:t>
            </a:r>
          </a:p>
          <a:p>
            <a:pPr algn="l">
              <a:spcAft>
                <a:spcPts val="1400"/>
              </a:spcAft>
            </a:pPr>
            <a:r>
              <a:rPr sz="1800" b="0">
                <a:solidFill>
                  <a:srgbClr val="222222"/>
                </a:solidFill>
                <a:latin typeface="Arial"/>
              </a:rPr>
              <a:t>–  We let the LLM write answers in three different ways and ask patients and doctors which answers they like</a:t>
            </a:r>
          </a:p>
        </p:txBody>
      </p:sp>
      <p:sp>
        <p:nvSpPr>
          <p:cNvPr id="7" name="TextBox 6"/>
          <p:cNvSpPr txBox="1"/>
          <p:nvPr/>
        </p:nvSpPr>
        <p:spPr>
          <a:xfrm>
            <a:off x="640080" y="4206240"/>
            <a:ext cx="10881360" cy="365760"/>
          </a:xfrm>
          <a:prstGeom prst="rect">
            <a:avLst/>
          </a:prstGeom>
          <a:noFill/>
        </p:spPr>
        <p:txBody>
          <a:bodyPr wrap="square" lIns="0" tIns="0" rIns="0" bIns="0" anchor="t">
            <a:spAutoFit/>
          </a:bodyPr>
          <a:lstStyle/>
          <a:p>
            <a:pPr algn="l">
              <a:spcAft>
                <a:spcPts val="600"/>
              </a:spcAft>
            </a:pPr>
            <a:r>
              <a:rPr sz="1800" b="1">
                <a:solidFill>
                  <a:srgbClr val="222222"/>
                </a:solidFill>
                <a:latin typeface="Arial"/>
              </a:rPr>
              <a:t>What we want to find out</a:t>
            </a:r>
          </a:p>
        </p:txBody>
      </p:sp>
      <p:sp>
        <p:nvSpPr>
          <p:cNvPr id="8" name="TextBox 7"/>
          <p:cNvSpPr txBox="1"/>
          <p:nvPr/>
        </p:nvSpPr>
        <p:spPr>
          <a:xfrm>
            <a:off x="640080" y="4709160"/>
            <a:ext cx="10881360" cy="1371600"/>
          </a:xfrm>
          <a:prstGeom prst="rect">
            <a:avLst/>
          </a:prstGeom>
          <a:noFill/>
        </p:spPr>
        <p:txBody>
          <a:bodyPr wrap="square" lIns="0" tIns="0" rIns="0" bIns="0" anchor="t">
            <a:spAutoFit/>
          </a:bodyPr>
          <a:lstStyle/>
          <a:p>
            <a:pPr algn="l">
              <a:spcAft>
                <a:spcPts val="1000"/>
              </a:spcAft>
            </a:pPr>
            <a:r>
              <a:rPr sz="1800" b="0">
                <a:solidFill>
                  <a:srgbClr val="222222"/>
                </a:solidFill>
                <a:latin typeface="Arial"/>
              </a:rPr>
              <a:t>–  Do patients like the answers of the two-step method best (first the facts, then friendly wording)?</a:t>
            </a:r>
          </a:p>
          <a:p>
            <a:pPr algn="l">
              <a:spcAft>
                <a:spcPts val="1000"/>
              </a:spcAft>
            </a:pPr>
            <a:r>
              <a:rPr sz="1800" b="0">
                <a:solidFill>
                  <a:srgbClr val="222222"/>
                </a:solidFill>
                <a:latin typeface="Arial"/>
              </a:rPr>
              <a:t>–  And are these answers still correct?</a:t>
            </a:r>
          </a:p>
          <a:p>
            <a:pPr algn="l">
              <a:spcAft>
                <a:spcPts val="1000"/>
              </a:spcAft>
            </a:pPr>
            <a:r>
              <a:rPr sz="1800" b="0">
                <a:solidFill>
                  <a:srgbClr val="222222"/>
                </a:solidFill>
                <a:latin typeface="Arial"/>
              </a:rPr>
              <a:t>–  And do the answers change patients' decisions – do they feel more or less certain about the therapy?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Three ways to write an answer</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3</a:t>
            </a:r>
          </a:p>
        </p:txBody>
      </p:sp>
      <p:sp>
        <p:nvSpPr>
          <p:cNvPr id="6" name="Rectangle 5"/>
          <p:cNvSpPr/>
          <p:nvPr/>
        </p:nvSpPr>
        <p:spPr>
          <a:xfrm>
            <a:off x="548640" y="3063240"/>
            <a:ext cx="1417320" cy="118872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300" b="1">
                <a:solidFill>
                  <a:srgbClr val="222222"/>
                </a:solidFill>
                <a:latin typeface="Arial"/>
              </a:rPr>
              <a:t>Patient question</a:t>
            </a:r>
          </a:p>
          <a:p>
            <a:pPr algn="l"/>
            <a:r>
              <a:rPr sz="1200" b="0">
                <a:solidFill>
                  <a:srgbClr val="707070"/>
                </a:solidFill>
                <a:latin typeface="Arial"/>
              </a:rPr>
              <a:t>e.g. “Will I feel sick?”</a:t>
            </a:r>
          </a:p>
        </p:txBody>
      </p:sp>
      <p:sp>
        <p:nvSpPr>
          <p:cNvPr id="7" name="Rectangle 6"/>
          <p:cNvSpPr/>
          <p:nvPr/>
        </p:nvSpPr>
        <p:spPr>
          <a:xfrm>
            <a:off x="2286000" y="3063240"/>
            <a:ext cx="1600200" cy="118872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300" b="1">
                <a:solidFill>
                  <a:srgbClr val="222222"/>
                </a:solidFill>
                <a:latin typeface="Arial"/>
              </a:rPr>
              <a:t>Sources</a:t>
            </a:r>
          </a:p>
          <a:p>
            <a:pPr algn="l"/>
            <a:r>
              <a:rPr sz="1200" b="0">
                <a:solidFill>
                  <a:srgbClr val="707070"/>
                </a:solidFill>
                <a:latin typeface="Arial"/>
              </a:rPr>
              <a:t>Insel patient information, guidelines</a:t>
            </a:r>
          </a:p>
        </p:txBody>
      </p:sp>
      <p:cxnSp>
        <p:nvCxnSpPr>
          <p:cNvPr id="8" name="Connector 7"/>
          <p:cNvCxnSpPr/>
          <p:nvPr/>
        </p:nvCxnSpPr>
        <p:spPr>
          <a:xfrm>
            <a:off x="1965960" y="3657600"/>
            <a:ext cx="32004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343400" y="1600200"/>
            <a:ext cx="1463040" cy="914400"/>
          </a:xfrm>
          <a:prstGeom prst="rect">
            <a:avLst/>
          </a:prstGeom>
          <a:noFill/>
        </p:spPr>
        <p:txBody>
          <a:bodyPr wrap="square" lIns="0" tIns="0" rIns="0" bIns="0" anchor="ctr">
            <a:spAutoFit/>
          </a:bodyPr>
          <a:lstStyle/>
          <a:p>
            <a:pPr algn="l">
              <a:spcAft>
                <a:spcPts val="600"/>
              </a:spcAft>
            </a:pPr>
            <a:r>
              <a:rPr sz="1500" b="1">
                <a:solidFill>
                  <a:srgbClr val="222222"/>
                </a:solidFill>
                <a:latin typeface="Arial"/>
              </a:rPr>
              <a:t>Clinical Only</a:t>
            </a:r>
          </a:p>
        </p:txBody>
      </p:sp>
      <p:cxnSp>
        <p:nvCxnSpPr>
          <p:cNvPr id="10" name="Connector 9"/>
          <p:cNvCxnSpPr/>
          <p:nvPr/>
        </p:nvCxnSpPr>
        <p:spPr>
          <a:xfrm flipV="1">
            <a:off x="3886200" y="2057400"/>
            <a:ext cx="411480" cy="1600200"/>
          </a:xfrm>
          <a:prstGeom prst="bentConnector3">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852160" y="1508760"/>
            <a:ext cx="3383280" cy="109728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400" b="1">
                <a:solidFill>
                  <a:srgbClr val="222222"/>
                </a:solidFill>
                <a:latin typeface="Arial"/>
              </a:rPr>
              <a:t>LLM writes the answer</a:t>
            </a:r>
          </a:p>
          <a:p>
            <a:pPr algn="l"/>
            <a:r>
              <a:rPr sz="1300" b="0">
                <a:solidFill>
                  <a:srgbClr val="707070"/>
                </a:solidFill>
                <a:latin typeface="Arial"/>
              </a:rPr>
              <a:t>instruction: facts only</a:t>
            </a:r>
          </a:p>
        </p:txBody>
      </p:sp>
      <p:cxnSp>
        <p:nvCxnSpPr>
          <p:cNvPr id="12" name="Connector 11"/>
          <p:cNvCxnSpPr/>
          <p:nvPr/>
        </p:nvCxnSpPr>
        <p:spPr>
          <a:xfrm>
            <a:off x="9235440" y="2057400"/>
            <a:ext cx="41148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43400" y="3200400"/>
            <a:ext cx="1463040" cy="914400"/>
          </a:xfrm>
          <a:prstGeom prst="rect">
            <a:avLst/>
          </a:prstGeom>
          <a:noFill/>
        </p:spPr>
        <p:txBody>
          <a:bodyPr wrap="square" lIns="0" tIns="0" rIns="0" bIns="0" anchor="ctr">
            <a:spAutoFit/>
          </a:bodyPr>
          <a:lstStyle/>
          <a:p>
            <a:pPr algn="l">
              <a:spcAft>
                <a:spcPts val="600"/>
              </a:spcAft>
            </a:pPr>
            <a:r>
              <a:rPr sz="1500" b="1">
                <a:solidFill>
                  <a:srgbClr val="222222"/>
                </a:solidFill>
                <a:latin typeface="Arial"/>
              </a:rPr>
              <a:t>Direct Empathy</a:t>
            </a:r>
          </a:p>
        </p:txBody>
      </p:sp>
      <p:cxnSp>
        <p:nvCxnSpPr>
          <p:cNvPr id="14" name="Connector 13"/>
          <p:cNvCxnSpPr/>
          <p:nvPr/>
        </p:nvCxnSpPr>
        <p:spPr>
          <a:xfrm>
            <a:off x="3886200" y="3657600"/>
            <a:ext cx="411480" cy="0"/>
          </a:xfrm>
          <a:prstGeom prst="bentConnector3">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852160" y="3108960"/>
            <a:ext cx="3383280" cy="109728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400" b="1">
                <a:solidFill>
                  <a:srgbClr val="222222"/>
                </a:solidFill>
                <a:latin typeface="Arial"/>
              </a:rPr>
              <a:t>LLM writes the answer</a:t>
            </a:r>
          </a:p>
          <a:p>
            <a:pPr algn="l"/>
            <a:r>
              <a:rPr sz="1300" b="0">
                <a:solidFill>
                  <a:srgbClr val="707070"/>
                </a:solidFill>
                <a:latin typeface="Arial"/>
              </a:rPr>
              <a:t>instruction: facts, warm and empathic</a:t>
            </a:r>
          </a:p>
        </p:txBody>
      </p:sp>
      <p:cxnSp>
        <p:nvCxnSpPr>
          <p:cNvPr id="16" name="Connector 15"/>
          <p:cNvCxnSpPr/>
          <p:nvPr/>
        </p:nvCxnSpPr>
        <p:spPr>
          <a:xfrm>
            <a:off x="9235440" y="3657600"/>
            <a:ext cx="41148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43400" y="4800600"/>
            <a:ext cx="1463040" cy="914400"/>
          </a:xfrm>
          <a:prstGeom prst="rect">
            <a:avLst/>
          </a:prstGeom>
          <a:noFill/>
        </p:spPr>
        <p:txBody>
          <a:bodyPr wrap="square" lIns="0" tIns="0" rIns="0" bIns="0" anchor="ctr">
            <a:spAutoFit/>
          </a:bodyPr>
          <a:lstStyle/>
          <a:p>
            <a:pPr algn="l">
              <a:spcAft>
                <a:spcPts val="600"/>
              </a:spcAft>
            </a:pPr>
            <a:r>
              <a:rPr sz="1500" b="1">
                <a:solidFill>
                  <a:srgbClr val="222222"/>
                </a:solidFill>
                <a:latin typeface="Arial"/>
              </a:rPr>
              <a:t>Two-Stage</a:t>
            </a:r>
          </a:p>
        </p:txBody>
      </p:sp>
      <p:cxnSp>
        <p:nvCxnSpPr>
          <p:cNvPr id="18" name="Connector 17"/>
          <p:cNvCxnSpPr/>
          <p:nvPr/>
        </p:nvCxnSpPr>
        <p:spPr>
          <a:xfrm>
            <a:off x="3886200" y="3657600"/>
            <a:ext cx="411480" cy="1600200"/>
          </a:xfrm>
          <a:prstGeom prst="bentConnector3">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852160" y="4709160"/>
            <a:ext cx="1554480" cy="109728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300" b="1">
                <a:solidFill>
                  <a:srgbClr val="222222"/>
                </a:solidFill>
                <a:latin typeface="Arial"/>
              </a:rPr>
              <a:t>Step 1: LLM lists the facts</a:t>
            </a:r>
          </a:p>
          <a:p>
            <a:pPr algn="l"/>
            <a:r>
              <a:rPr sz="1200" b="0">
                <a:solidFill>
                  <a:srgbClr val="707070"/>
                </a:solidFill>
                <a:latin typeface="Arial"/>
              </a:rPr>
              <a:t>no wording yet</a:t>
            </a:r>
          </a:p>
        </p:txBody>
      </p:sp>
      <p:cxnSp>
        <p:nvCxnSpPr>
          <p:cNvPr id="20" name="Connector 19"/>
          <p:cNvCxnSpPr/>
          <p:nvPr/>
        </p:nvCxnSpPr>
        <p:spPr>
          <a:xfrm>
            <a:off x="7406640" y="5257800"/>
            <a:ext cx="27432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680960" y="4709160"/>
            <a:ext cx="1554480" cy="109728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300" b="1">
                <a:solidFill>
                  <a:srgbClr val="222222"/>
                </a:solidFill>
                <a:latin typeface="Arial"/>
              </a:rPr>
              <a:t>Step 2: LLM rewrites them warmly</a:t>
            </a:r>
          </a:p>
          <a:p>
            <a:pPr algn="l"/>
            <a:r>
              <a:rPr sz="1200" b="0">
                <a:solidFill>
                  <a:srgbClr val="707070"/>
                </a:solidFill>
                <a:latin typeface="Arial"/>
              </a:rPr>
              <a:t>no new facts allowed</a:t>
            </a:r>
          </a:p>
        </p:txBody>
      </p:sp>
      <p:cxnSp>
        <p:nvCxnSpPr>
          <p:cNvPr id="22" name="Connector 21"/>
          <p:cNvCxnSpPr/>
          <p:nvPr/>
        </p:nvCxnSpPr>
        <p:spPr>
          <a:xfrm>
            <a:off x="9235440" y="5257800"/>
            <a:ext cx="41148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646920" y="1508760"/>
            <a:ext cx="1920240" cy="429768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400" b="1">
                <a:solidFill>
                  <a:srgbClr val="222222"/>
                </a:solidFill>
                <a:latin typeface="Arial"/>
              </a:rPr>
              <a:t>Check</a:t>
            </a:r>
          </a:p>
          <a:p>
            <a:pPr algn="l"/>
            <a:r>
              <a:rPr sz="1300" b="0">
                <a:solidFill>
                  <a:srgbClr val="707070"/>
                </a:solidFill>
                <a:latin typeface="Arial"/>
              </a:rPr>
              <a:t>readable, no jargon, answers the question in the first sentence</a:t>
            </a:r>
          </a:p>
          <a:p>
            <a:pPr algn="l"/>
            <a:endParaRPr sz="1300" b="0">
              <a:solidFill>
                <a:srgbClr val="707070"/>
              </a:solidFill>
              <a:latin typeface="Arial"/>
            </a:endParaRPr>
          </a:p>
          <a:p>
            <a:pPr algn="l"/>
            <a:r>
              <a:rPr sz="1300" b="0">
                <a:solidFill>
                  <a:srgbClr val="707070"/>
                </a:solidFill>
                <a:latin typeface="Arial"/>
              </a:rPr>
              <a:t>→ shown in the study</a:t>
            </a:r>
          </a:p>
        </p:txBody>
      </p:sp>
      <p:sp>
        <p:nvSpPr>
          <p:cNvPr id="24" name="TextBox 23"/>
          <p:cNvSpPr txBox="1"/>
          <p:nvPr/>
        </p:nvSpPr>
        <p:spPr>
          <a:xfrm>
            <a:off x="548640" y="5943600"/>
            <a:ext cx="10972800" cy="365760"/>
          </a:xfrm>
          <a:prstGeom prst="rect">
            <a:avLst/>
          </a:prstGeom>
          <a:noFill/>
        </p:spPr>
        <p:txBody>
          <a:bodyPr wrap="square" lIns="0" tIns="0" rIns="0" bIns="0" anchor="t">
            <a:spAutoFit/>
          </a:bodyPr>
          <a:lstStyle/>
          <a:p>
            <a:pPr algn="l">
              <a:spcAft>
                <a:spcPts val="600"/>
              </a:spcAft>
            </a:pPr>
            <a:r>
              <a:rPr sz="1400" b="0">
                <a:solidFill>
                  <a:srgbClr val="707070"/>
                </a:solidFill>
                <a:latin typeface="Arial"/>
              </a:rPr>
              <a:t>Same LLM, same sources, same writing rules – only the instruction differs.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The LLM also tells us how sure it is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4</a:t>
            </a:r>
          </a:p>
        </p:txBody>
      </p:sp>
      <p:sp>
        <p:nvSpPr>
          <p:cNvPr id="6" name="TextBox 5"/>
          <p:cNvSpPr txBox="1"/>
          <p:nvPr/>
        </p:nvSpPr>
        <p:spPr>
          <a:xfrm>
            <a:off x="640080" y="1463040"/>
            <a:ext cx="5486400" cy="365760"/>
          </a:xfrm>
          <a:prstGeom prst="rect">
            <a:avLst/>
          </a:prstGeom>
          <a:noFill/>
        </p:spPr>
        <p:txBody>
          <a:bodyPr wrap="square" lIns="0" tIns="0" rIns="0" bIns="0" anchor="t">
            <a:spAutoFit/>
          </a:bodyPr>
          <a:lstStyle/>
          <a:p>
            <a:pPr algn="l">
              <a:spcAft>
                <a:spcPts val="600"/>
              </a:spcAft>
            </a:pPr>
            <a:r>
              <a:rPr sz="1800" b="1">
                <a:solidFill>
                  <a:srgbClr val="222222"/>
                </a:solidFill>
                <a:latin typeface="Arial"/>
              </a:rPr>
              <a:t>While writing, we measure:</a:t>
            </a:r>
          </a:p>
        </p:txBody>
      </p:sp>
      <p:sp>
        <p:nvSpPr>
          <p:cNvPr id="7" name="TextBox 6"/>
          <p:cNvSpPr txBox="1"/>
          <p:nvPr/>
        </p:nvSpPr>
        <p:spPr>
          <a:xfrm>
            <a:off x="640080" y="1965960"/>
            <a:ext cx="5486400" cy="3657600"/>
          </a:xfrm>
          <a:prstGeom prst="rect">
            <a:avLst/>
          </a:prstGeom>
          <a:noFill/>
        </p:spPr>
        <p:txBody>
          <a:bodyPr wrap="square" lIns="0" tIns="0" rIns="0" bIns="0" anchor="t">
            <a:spAutoFit/>
          </a:bodyPr>
          <a:lstStyle/>
          <a:p>
            <a:pPr algn="l">
              <a:spcAft>
                <a:spcPts val="1200"/>
              </a:spcAft>
            </a:pPr>
            <a:r>
              <a:rPr sz="1700" b="0">
                <a:solidFill>
                  <a:srgbClr val="222222"/>
                </a:solidFill>
                <a:latin typeface="Arial"/>
              </a:rPr>
              <a:t>–  Does the LLM hesitate between words?</a:t>
            </a:r>
          </a:p>
          <a:p>
            <a:pPr algn="l">
              <a:spcAft>
                <a:spcPts val="1200"/>
              </a:spcAft>
            </a:pPr>
            <a:r>
              <a:rPr sz="1700" b="0">
                <a:solidFill>
                  <a:srgbClr val="222222"/>
                </a:solidFill>
                <a:latin typeface="Arial"/>
              </a:rPr>
              <a:t>–  Do 5 drafts of the same answer say the same thing?</a:t>
            </a:r>
          </a:p>
          <a:p>
            <a:pPr algn="l">
              <a:spcAft>
                <a:spcPts val="1200"/>
              </a:spcAft>
            </a:pPr>
            <a:r>
              <a:rPr sz="1700" b="0">
                <a:solidFill>
                  <a:srgbClr val="222222"/>
                </a:solidFill>
                <a:latin typeface="Arial"/>
              </a:rPr>
              <a:t>–  Do the sources fit the question?</a:t>
            </a:r>
          </a:p>
          <a:p>
            <a:pPr algn="l">
              <a:spcAft>
                <a:spcPts val="1200"/>
              </a:spcAft>
            </a:pPr>
            <a:r>
              <a:rPr sz="1700" b="0">
                <a:solidFill>
                  <a:srgbClr val="222222"/>
                </a:solidFill>
                <a:latin typeface="Arial"/>
              </a:rPr>
              <a:t>–  How emotional is the tone?</a:t>
            </a:r>
          </a:p>
          <a:p>
            <a:pPr algn="l">
              <a:spcAft>
                <a:spcPts val="1200"/>
              </a:spcAft>
            </a:pPr>
            <a:r>
              <a:rPr sz="1700" b="0">
                <a:solidFill>
                  <a:srgbClr val="222222"/>
                </a:solidFill>
                <a:latin typeface="Arial"/>
              </a:rPr>
              <a:t>–  How sure does the LLM say it is?</a:t>
            </a:r>
          </a:p>
        </p:txBody>
      </p:sp>
      <p:sp>
        <p:nvSpPr>
          <p:cNvPr id="8" name="TextBox 7"/>
          <p:cNvSpPr txBox="1"/>
          <p:nvPr/>
        </p:nvSpPr>
        <p:spPr>
          <a:xfrm>
            <a:off x="6583680" y="1463040"/>
            <a:ext cx="4937760" cy="365760"/>
          </a:xfrm>
          <a:prstGeom prst="rect">
            <a:avLst/>
          </a:prstGeom>
          <a:noFill/>
        </p:spPr>
        <p:txBody>
          <a:bodyPr wrap="square" lIns="0" tIns="0" rIns="0" bIns="0" anchor="t">
            <a:spAutoFit/>
          </a:bodyPr>
          <a:lstStyle/>
          <a:p>
            <a:pPr algn="l">
              <a:spcAft>
                <a:spcPts val="600"/>
              </a:spcAft>
            </a:pPr>
            <a:r>
              <a:rPr sz="1800" b="1">
                <a:solidFill>
                  <a:srgbClr val="222222"/>
                </a:solidFill>
                <a:latin typeface="Arial"/>
              </a:rPr>
              <a:t>This gives two numbers per answer</a:t>
            </a:r>
          </a:p>
        </p:txBody>
      </p:sp>
      <p:sp>
        <p:nvSpPr>
          <p:cNvPr id="9" name="Rectangle 8"/>
          <p:cNvSpPr/>
          <p:nvPr/>
        </p:nvSpPr>
        <p:spPr>
          <a:xfrm>
            <a:off x="6583680" y="2011680"/>
            <a:ext cx="4937760" cy="109728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600" b="1">
                <a:solidFill>
                  <a:srgbClr val="222222"/>
                </a:solidFill>
                <a:latin typeface="Arial"/>
              </a:rPr>
              <a:t>Uncertainty about the facts</a:t>
            </a:r>
          </a:p>
          <a:p>
            <a:pPr algn="l"/>
            <a:r>
              <a:rPr sz="1500" b="0">
                <a:solidFill>
                  <a:srgbClr val="707070"/>
                </a:solidFill>
                <a:latin typeface="Arial"/>
              </a:rPr>
              <a:t>0 = sure, 1 = unsure</a:t>
            </a:r>
          </a:p>
        </p:txBody>
      </p:sp>
      <p:sp>
        <p:nvSpPr>
          <p:cNvPr id="10" name="Rectangle 9"/>
          <p:cNvSpPr/>
          <p:nvPr/>
        </p:nvSpPr>
        <p:spPr>
          <a:xfrm>
            <a:off x="6583680" y="3291840"/>
            <a:ext cx="4937760" cy="109728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600" b="1">
                <a:solidFill>
                  <a:srgbClr val="222222"/>
                </a:solidFill>
                <a:latin typeface="Arial"/>
              </a:rPr>
              <a:t>Uncertainty about the tone</a:t>
            </a:r>
          </a:p>
          <a:p>
            <a:pPr algn="l"/>
            <a:r>
              <a:rPr sz="1500" b="0">
                <a:solidFill>
                  <a:srgbClr val="707070"/>
                </a:solidFill>
                <a:latin typeface="Arial"/>
              </a:rPr>
              <a:t>0 = sure, 1 = unsure</a:t>
            </a:r>
          </a:p>
        </p:txBody>
      </p:sp>
      <p:sp>
        <p:nvSpPr>
          <p:cNvPr id="11" name="TextBox 10"/>
          <p:cNvSpPr txBox="1"/>
          <p:nvPr/>
        </p:nvSpPr>
        <p:spPr>
          <a:xfrm>
            <a:off x="6583680" y="4663440"/>
            <a:ext cx="4937760" cy="1463040"/>
          </a:xfrm>
          <a:prstGeom prst="rect">
            <a:avLst/>
          </a:prstGeom>
          <a:noFill/>
        </p:spPr>
        <p:txBody>
          <a:bodyPr wrap="square" lIns="0" tIns="0" rIns="0" bIns="0" anchor="t">
            <a:spAutoFit/>
          </a:bodyPr>
          <a:lstStyle/>
          <a:p>
            <a:pPr algn="l">
              <a:spcAft>
                <a:spcPts val="600"/>
              </a:spcAft>
            </a:pPr>
            <a:r>
              <a:rPr sz="1400" b="0">
                <a:solidFill>
                  <a:srgbClr val="707070"/>
                </a:solidFill>
                <a:latin typeface="Arial"/>
              </a:rPr>
              <a:t>Currently about 0.3 in all three ways of writing; the questions differ more than the three ways.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Why we measure this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5</a:t>
            </a:r>
          </a:p>
        </p:txBody>
      </p:sp>
      <p:sp>
        <p:nvSpPr>
          <p:cNvPr id="6" name="Rectangle 5"/>
          <p:cNvSpPr/>
          <p:nvPr/>
        </p:nvSpPr>
        <p:spPr>
          <a:xfrm>
            <a:off x="640080" y="1828800"/>
            <a:ext cx="3108960" cy="1463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600" b="1">
                <a:solidFill>
                  <a:srgbClr val="222222"/>
                </a:solidFill>
                <a:latin typeface="Arial"/>
              </a:rPr>
              <a:t>LLM's uncertainty</a:t>
            </a:r>
          </a:p>
          <a:p>
            <a:pPr algn="l"/>
            <a:r>
              <a:rPr sz="1500" b="0">
                <a:solidFill>
                  <a:srgbClr val="707070"/>
                </a:solidFill>
                <a:latin typeface="Arial"/>
              </a:rPr>
              <a:t>two numbers per answer</a:t>
            </a:r>
          </a:p>
        </p:txBody>
      </p:sp>
      <p:sp>
        <p:nvSpPr>
          <p:cNvPr id="7" name="Rectangle 6"/>
          <p:cNvSpPr/>
          <p:nvPr/>
        </p:nvSpPr>
        <p:spPr>
          <a:xfrm>
            <a:off x="4526280" y="1828800"/>
            <a:ext cx="3108960" cy="1463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600" b="1">
                <a:solidFill>
                  <a:srgbClr val="222222"/>
                </a:solidFill>
                <a:latin typeface="Arial"/>
              </a:rPr>
              <a:t>Study results</a:t>
            </a:r>
          </a:p>
          <a:p>
            <a:pPr algn="l"/>
            <a:r>
              <a:rPr sz="1500" b="0">
                <a:solidFill>
                  <a:srgbClr val="707070"/>
                </a:solidFill>
                <a:latin typeface="Arial"/>
              </a:rPr>
              <a:t>ratings by patients and doctors, medical check</a:t>
            </a:r>
          </a:p>
        </p:txBody>
      </p:sp>
      <p:sp>
        <p:nvSpPr>
          <p:cNvPr id="8" name="Rectangle 7"/>
          <p:cNvSpPr/>
          <p:nvPr/>
        </p:nvSpPr>
        <p:spPr>
          <a:xfrm>
            <a:off x="8412480" y="1828800"/>
            <a:ext cx="3108960" cy="146304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600" b="1">
                <a:solidFill>
                  <a:srgbClr val="222222"/>
                </a:solidFill>
                <a:latin typeface="Arial"/>
              </a:rPr>
              <a:t>Do they match?</a:t>
            </a:r>
          </a:p>
          <a:p>
            <a:pPr algn="l"/>
            <a:r>
              <a:rPr sz="1500" b="0">
                <a:solidFill>
                  <a:srgbClr val="707070"/>
                </a:solidFill>
                <a:latin typeface="Arial"/>
              </a:rPr>
              <a:t>is the LLM unsure where people see problems?</a:t>
            </a:r>
          </a:p>
        </p:txBody>
      </p:sp>
      <p:cxnSp>
        <p:nvCxnSpPr>
          <p:cNvPr id="9" name="Connector 8"/>
          <p:cNvCxnSpPr/>
          <p:nvPr/>
        </p:nvCxnSpPr>
        <p:spPr>
          <a:xfrm>
            <a:off x="3749039" y="2560320"/>
            <a:ext cx="777241"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635240" y="2560320"/>
            <a:ext cx="777240" cy="0"/>
          </a:xfrm>
          <a:prstGeom prst="line">
            <a:avLst/>
          </a:prstGeom>
          <a:ln w="15875">
            <a:solidFill>
              <a:srgbClr val="70707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840480"/>
            <a:ext cx="10881360" cy="2194560"/>
          </a:xfrm>
          <a:prstGeom prst="rect">
            <a:avLst/>
          </a:prstGeom>
          <a:noFill/>
        </p:spPr>
        <p:txBody>
          <a:bodyPr wrap="square" lIns="0" tIns="0" rIns="0" bIns="0" anchor="t">
            <a:spAutoFit/>
          </a:bodyPr>
          <a:lstStyle/>
          <a:p>
            <a:pPr algn="l">
              <a:spcAft>
                <a:spcPts val="1200"/>
              </a:spcAft>
            </a:pPr>
            <a:r>
              <a:rPr sz="1700" b="0">
                <a:solidFill>
                  <a:srgbClr val="222222"/>
                </a:solidFill>
                <a:latin typeface="Arial"/>
              </a:rPr>
              <a:t>–  Example: the LLM is unsure about the facts → do the doctors find a mistake in this answer?</a:t>
            </a:r>
          </a:p>
          <a:p>
            <a:pPr algn="l">
              <a:spcAft>
                <a:spcPts val="1200"/>
              </a:spcAft>
            </a:pPr>
            <a:r>
              <a:rPr sz="1700" b="0">
                <a:solidFill>
                  <a:srgbClr val="222222"/>
                </a:solidFill>
                <a:latin typeface="Arial"/>
              </a:rPr>
              <a:t>–  Example: the LLM is unsure about the tone → do patients find this answer cold or worrying?</a:t>
            </a:r>
          </a:p>
          <a:p>
            <a:pPr algn="l">
              <a:spcAft>
                <a:spcPts val="1200"/>
              </a:spcAft>
            </a:pPr>
            <a:r>
              <a:rPr sz="1700" b="0">
                <a:solidFill>
                  <a:srgbClr val="222222"/>
                </a:solidFill>
                <a:latin typeface="Arial"/>
              </a:rPr>
              <a:t>–  If yes, a future chatbot could use these numbers to warn, be more careful, or pass the question to the care team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Where we are</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6</a:t>
            </a:r>
          </a:p>
        </p:txBody>
      </p:sp>
      <p:sp>
        <p:nvSpPr>
          <p:cNvPr id="6" name="TextBox 5"/>
          <p:cNvSpPr txBox="1"/>
          <p:nvPr/>
        </p:nvSpPr>
        <p:spPr>
          <a:xfrm>
            <a:off x="640080" y="1463040"/>
            <a:ext cx="10881360" cy="1646605"/>
          </a:xfrm>
          <a:prstGeom prst="rect">
            <a:avLst/>
          </a:prstGeom>
          <a:noFill/>
        </p:spPr>
        <p:txBody>
          <a:bodyPr wrap="square" lIns="0" tIns="0" rIns="0" bIns="0" anchor="t">
            <a:spAutoFit/>
          </a:bodyPr>
          <a:lstStyle/>
          <a:p>
            <a:pPr algn="l">
              <a:spcAft>
                <a:spcPts val="1400"/>
              </a:spcAft>
            </a:pPr>
            <a:r>
              <a:rPr sz="1800" b="0" dirty="0">
                <a:solidFill>
                  <a:srgbClr val="222222"/>
                </a:solidFill>
                <a:latin typeface="Arial"/>
              </a:rPr>
              <a:t>–  The LLM uses the Insel patient information and guidelines as sources</a:t>
            </a:r>
          </a:p>
          <a:p>
            <a:pPr algn="l">
              <a:spcAft>
                <a:spcPts val="1400"/>
              </a:spcAft>
            </a:pPr>
            <a:r>
              <a:rPr sz="1800" b="0">
                <a:solidFill>
                  <a:srgbClr val="222222"/>
                </a:solidFill>
                <a:latin typeface="Arial"/>
              </a:rPr>
              <a:t>–  </a:t>
            </a:r>
            <a:r>
              <a:rPr sz="1800" b="0" dirty="0">
                <a:solidFill>
                  <a:srgbClr val="222222"/>
                </a:solidFill>
                <a:latin typeface="Arial"/>
              </a:rPr>
              <a:t>The answers are short and in plain language</a:t>
            </a:r>
          </a:p>
          <a:p>
            <a:pPr algn="l">
              <a:spcAft>
                <a:spcPts val="1400"/>
              </a:spcAft>
            </a:pPr>
            <a:r>
              <a:rPr sz="1800" b="0" dirty="0">
                <a:solidFill>
                  <a:srgbClr val="222222"/>
                </a:solidFill>
                <a:latin typeface="Arial"/>
              </a:rPr>
              <a:t>–  The study app is ready for a test run</a:t>
            </a:r>
          </a:p>
          <a:p>
            <a:pPr algn="l">
              <a:spcAft>
                <a:spcPts val="1400"/>
              </a:spcAft>
            </a:pPr>
            <a:r>
              <a:rPr sz="1800" b="0" dirty="0">
                <a:solidFill>
                  <a:srgbClr val="222222"/>
                </a:solidFill>
                <a:latin typeface="Arial"/>
              </a:rPr>
              <a:t>–  Ethics committee Bern: no approval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How readable are the answers?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7</a:t>
            </a:r>
          </a:p>
        </p:txBody>
      </p:sp>
      <p:graphicFrame>
        <p:nvGraphicFramePr>
          <p:cNvPr id="6" name="Table 5"/>
          <p:cNvGraphicFramePr>
            <a:graphicFrameLocks noGrp="1"/>
          </p:cNvGraphicFramePr>
          <p:nvPr/>
        </p:nvGraphicFramePr>
        <p:xfrm>
          <a:off x="640080" y="1463040"/>
          <a:ext cx="7589520" cy="19507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57200">
                <a:tc>
                  <a:txBody>
                    <a:bodyPr/>
                    <a:lstStyle/>
                    <a:p>
                      <a:endParaRPr/>
                    </a:p>
                  </a:txBody>
                  <a:tcPr>
                    <a:solidFill>
                      <a:srgbClr val="EEEEEE"/>
                    </a:solidFill>
                  </a:tcPr>
                </a:tc>
                <a:tc>
                  <a:txBody>
                    <a:bodyPr/>
                    <a:lstStyle/>
                    <a:p>
                      <a:r>
                        <a:rPr sz="1600" b="1">
                          <a:solidFill>
                            <a:srgbClr val="222222"/>
                          </a:solidFill>
                          <a:latin typeface="Arial"/>
                        </a:rPr>
                        <a:t>Readability (Flesch)</a:t>
                      </a:r>
                    </a:p>
                  </a:txBody>
                  <a:tcPr>
                    <a:solidFill>
                      <a:srgbClr val="EEEEEE"/>
                    </a:solidFill>
                  </a:tcPr>
                </a:tc>
                <a:tc>
                  <a:txBody>
                    <a:bodyPr/>
                    <a:lstStyle/>
                    <a:p>
                      <a:r>
                        <a:rPr sz="1600" b="1">
                          <a:solidFill>
                            <a:srgbClr val="222222"/>
                          </a:solidFill>
                          <a:latin typeface="Arial"/>
                        </a:rPr>
                        <a:t>Words</a:t>
                      </a:r>
                    </a:p>
                  </a:txBody>
                  <a:tcPr>
                    <a:solidFill>
                      <a:srgbClr val="EEEEEE"/>
                    </a:solidFill>
                  </a:tcPr>
                </a:tc>
                <a:tc>
                  <a:txBody>
                    <a:bodyPr/>
                    <a:lstStyle/>
                    <a:p>
                      <a:r>
                        <a:rPr sz="1600" b="1">
                          <a:solidFill>
                            <a:srgbClr val="222222"/>
                          </a:solidFill>
                          <a:latin typeface="Arial"/>
                        </a:rPr>
                        <a:t>Passed the check</a:t>
                      </a:r>
                    </a:p>
                  </a:txBody>
                  <a:tcPr>
                    <a:solidFill>
                      <a:srgbClr val="EEEEEE"/>
                    </a:solidFill>
                  </a:tcPr>
                </a:tc>
                <a:extLst>
                  <a:ext uri="{0D108BD9-81ED-4DB2-BD59-A6C34878D82A}">
                    <a16:rowId xmlns:a16="http://schemas.microsoft.com/office/drawing/2014/main" val="10000"/>
                  </a:ext>
                </a:extLst>
              </a:tr>
              <a:tr h="457200">
                <a:tc>
                  <a:txBody>
                    <a:bodyPr/>
                    <a:lstStyle/>
                    <a:p>
                      <a:r>
                        <a:rPr sz="1600" b="0">
                          <a:solidFill>
                            <a:srgbClr val="222222"/>
                          </a:solidFill>
                          <a:latin typeface="Arial"/>
                        </a:rPr>
                        <a:t>Clinical Only</a:t>
                      </a:r>
                    </a:p>
                  </a:txBody>
                  <a:tcPr>
                    <a:solidFill>
                      <a:srgbClr val="FFFFFF"/>
                    </a:solidFill>
                  </a:tcPr>
                </a:tc>
                <a:tc>
                  <a:txBody>
                    <a:bodyPr/>
                    <a:lstStyle/>
                    <a:p>
                      <a:r>
                        <a:rPr sz="1600" b="0">
                          <a:solidFill>
                            <a:srgbClr val="222222"/>
                          </a:solidFill>
                          <a:latin typeface="Arial"/>
                        </a:rPr>
                        <a:t>42</a:t>
                      </a:r>
                    </a:p>
                  </a:txBody>
                  <a:tcPr>
                    <a:solidFill>
                      <a:srgbClr val="FFFFFF"/>
                    </a:solidFill>
                  </a:tcPr>
                </a:tc>
                <a:tc>
                  <a:txBody>
                    <a:bodyPr/>
                    <a:lstStyle/>
                    <a:p>
                      <a:r>
                        <a:rPr sz="1600" b="0">
                          <a:solidFill>
                            <a:srgbClr val="222222"/>
                          </a:solidFill>
                          <a:latin typeface="Arial"/>
                        </a:rPr>
                        <a:t>59</a:t>
                      </a:r>
                    </a:p>
                  </a:txBody>
                  <a:tcPr>
                    <a:solidFill>
                      <a:srgbClr val="FFFFFF"/>
                    </a:solidFill>
                  </a:tcPr>
                </a:tc>
                <a:tc>
                  <a:txBody>
                    <a:bodyPr/>
                    <a:lstStyle/>
                    <a:p>
                      <a:r>
                        <a:rPr sz="1600" b="0">
                          <a:solidFill>
                            <a:srgbClr val="222222"/>
                          </a:solidFill>
                          <a:latin typeface="Arial"/>
                        </a:rPr>
                        <a:t>19 of 20</a:t>
                      </a:r>
                    </a:p>
                  </a:txBody>
                  <a:tcPr>
                    <a:solidFill>
                      <a:srgbClr val="FFFFFF"/>
                    </a:solidFill>
                  </a:tcPr>
                </a:tc>
                <a:extLst>
                  <a:ext uri="{0D108BD9-81ED-4DB2-BD59-A6C34878D82A}">
                    <a16:rowId xmlns:a16="http://schemas.microsoft.com/office/drawing/2014/main" val="10001"/>
                  </a:ext>
                </a:extLst>
              </a:tr>
              <a:tr h="457200">
                <a:tc>
                  <a:txBody>
                    <a:bodyPr/>
                    <a:lstStyle/>
                    <a:p>
                      <a:r>
                        <a:rPr sz="1600" b="0">
                          <a:solidFill>
                            <a:srgbClr val="222222"/>
                          </a:solidFill>
                          <a:latin typeface="Arial"/>
                        </a:rPr>
                        <a:t>Direct Empathy</a:t>
                      </a:r>
                    </a:p>
                  </a:txBody>
                  <a:tcPr>
                    <a:solidFill>
                      <a:srgbClr val="FFFFFF"/>
                    </a:solidFill>
                  </a:tcPr>
                </a:tc>
                <a:tc>
                  <a:txBody>
                    <a:bodyPr/>
                    <a:lstStyle/>
                    <a:p>
                      <a:r>
                        <a:rPr sz="1600" b="0">
                          <a:solidFill>
                            <a:srgbClr val="222222"/>
                          </a:solidFill>
                          <a:latin typeface="Arial"/>
                        </a:rPr>
                        <a:t>41</a:t>
                      </a:r>
                    </a:p>
                  </a:txBody>
                  <a:tcPr>
                    <a:solidFill>
                      <a:srgbClr val="FFFFFF"/>
                    </a:solidFill>
                  </a:tcPr>
                </a:tc>
                <a:tc>
                  <a:txBody>
                    <a:bodyPr/>
                    <a:lstStyle/>
                    <a:p>
                      <a:r>
                        <a:rPr sz="1600" b="0">
                          <a:solidFill>
                            <a:srgbClr val="222222"/>
                          </a:solidFill>
                          <a:latin typeface="Arial"/>
                        </a:rPr>
                        <a:t>73</a:t>
                      </a:r>
                    </a:p>
                  </a:txBody>
                  <a:tcPr>
                    <a:solidFill>
                      <a:srgbClr val="FFFFFF"/>
                    </a:solidFill>
                  </a:tcPr>
                </a:tc>
                <a:tc>
                  <a:txBody>
                    <a:bodyPr/>
                    <a:lstStyle/>
                    <a:p>
                      <a:r>
                        <a:rPr sz="1600" b="0">
                          <a:solidFill>
                            <a:srgbClr val="222222"/>
                          </a:solidFill>
                          <a:latin typeface="Arial"/>
                        </a:rPr>
                        <a:t>17 of 20</a:t>
                      </a:r>
                    </a:p>
                  </a:txBody>
                  <a:tcPr>
                    <a:solidFill>
                      <a:srgbClr val="FFFFFF"/>
                    </a:solidFill>
                  </a:tcPr>
                </a:tc>
                <a:extLst>
                  <a:ext uri="{0D108BD9-81ED-4DB2-BD59-A6C34878D82A}">
                    <a16:rowId xmlns:a16="http://schemas.microsoft.com/office/drawing/2014/main" val="10002"/>
                  </a:ext>
                </a:extLst>
              </a:tr>
              <a:tr h="457200">
                <a:tc>
                  <a:txBody>
                    <a:bodyPr/>
                    <a:lstStyle/>
                    <a:p>
                      <a:r>
                        <a:rPr sz="1600" b="0">
                          <a:solidFill>
                            <a:srgbClr val="222222"/>
                          </a:solidFill>
                          <a:latin typeface="Arial"/>
                        </a:rPr>
                        <a:t>Two-Stage</a:t>
                      </a:r>
                    </a:p>
                  </a:txBody>
                  <a:tcPr>
                    <a:solidFill>
                      <a:srgbClr val="FFFFFF"/>
                    </a:solidFill>
                  </a:tcPr>
                </a:tc>
                <a:tc>
                  <a:txBody>
                    <a:bodyPr/>
                    <a:lstStyle/>
                    <a:p>
                      <a:r>
                        <a:rPr sz="1600" b="0">
                          <a:solidFill>
                            <a:srgbClr val="222222"/>
                          </a:solidFill>
                          <a:latin typeface="Arial"/>
                        </a:rPr>
                        <a:t>40</a:t>
                      </a:r>
                    </a:p>
                  </a:txBody>
                  <a:tcPr>
                    <a:solidFill>
                      <a:srgbClr val="FFFFFF"/>
                    </a:solidFill>
                  </a:tcPr>
                </a:tc>
                <a:tc>
                  <a:txBody>
                    <a:bodyPr/>
                    <a:lstStyle/>
                    <a:p>
                      <a:r>
                        <a:rPr sz="1600" b="0">
                          <a:solidFill>
                            <a:srgbClr val="222222"/>
                          </a:solidFill>
                          <a:latin typeface="Arial"/>
                        </a:rPr>
                        <a:t>83</a:t>
                      </a:r>
                    </a:p>
                  </a:txBody>
                  <a:tcPr>
                    <a:solidFill>
                      <a:srgbClr val="FFFFFF"/>
                    </a:solidFill>
                  </a:tcPr>
                </a:tc>
                <a:tc>
                  <a:txBody>
                    <a:bodyPr/>
                    <a:lstStyle/>
                    <a:p>
                      <a:r>
                        <a:rPr sz="1600" b="0">
                          <a:solidFill>
                            <a:srgbClr val="222222"/>
                          </a:solidFill>
                          <a:latin typeface="Arial"/>
                        </a:rPr>
                        <a:t>18 of 20</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8595360" y="1463040"/>
            <a:ext cx="2926080" cy="365760"/>
          </a:xfrm>
          <a:prstGeom prst="rect">
            <a:avLst/>
          </a:prstGeom>
          <a:noFill/>
        </p:spPr>
        <p:txBody>
          <a:bodyPr wrap="square" lIns="0" tIns="0" rIns="0" bIns="0" anchor="t">
            <a:spAutoFit/>
          </a:bodyPr>
          <a:lstStyle/>
          <a:p>
            <a:pPr algn="l">
              <a:spcAft>
                <a:spcPts val="600"/>
              </a:spcAft>
            </a:pPr>
            <a:r>
              <a:rPr sz="1800" b="1">
                <a:solidFill>
                  <a:srgbClr val="222222"/>
                </a:solidFill>
                <a:latin typeface="Arial"/>
              </a:rPr>
              <a:t>What is Flesch?</a:t>
            </a:r>
          </a:p>
        </p:txBody>
      </p:sp>
      <p:sp>
        <p:nvSpPr>
          <p:cNvPr id="8" name="TextBox 7"/>
          <p:cNvSpPr txBox="1"/>
          <p:nvPr/>
        </p:nvSpPr>
        <p:spPr>
          <a:xfrm>
            <a:off x="8595360" y="1965960"/>
            <a:ext cx="2926080" cy="4023360"/>
          </a:xfrm>
          <a:prstGeom prst="rect">
            <a:avLst/>
          </a:prstGeom>
          <a:noFill/>
        </p:spPr>
        <p:txBody>
          <a:bodyPr wrap="square" lIns="0" tIns="0" rIns="0" bIns="0" anchor="t">
            <a:spAutoFit/>
          </a:bodyPr>
          <a:lstStyle/>
          <a:p>
            <a:pPr algn="l">
              <a:spcAft>
                <a:spcPts val="800"/>
              </a:spcAft>
            </a:pPr>
            <a:r>
              <a:rPr sz="1400" b="0">
                <a:solidFill>
                  <a:srgbClr val="222222"/>
                </a:solidFill>
                <a:latin typeface="Arial"/>
              </a:rPr>
              <a:t>A score from 0 to 100 for how easy a text is to read</a:t>
            </a:r>
          </a:p>
          <a:p>
            <a:pPr algn="l">
              <a:spcAft>
                <a:spcPts val="800"/>
              </a:spcAft>
            </a:pPr>
            <a:r>
              <a:rPr sz="1400" b="0">
                <a:solidFill>
                  <a:srgbClr val="222222"/>
                </a:solidFill>
                <a:latin typeface="Arial"/>
              </a:rPr>
              <a:t>Short sentences and short words = higher score</a:t>
            </a:r>
          </a:p>
          <a:p>
            <a:pPr algn="l">
              <a:spcAft>
                <a:spcPts val="800"/>
              </a:spcAft>
            </a:pPr>
            <a:r>
              <a:rPr sz="1400" b="0">
                <a:solidFill>
                  <a:srgbClr val="222222"/>
                </a:solidFill>
                <a:latin typeface="Arial"/>
              </a:rPr>
              <a:t>Over 60: easy</a:t>
            </a:r>
          </a:p>
          <a:p>
            <a:pPr algn="l">
              <a:spcAft>
                <a:spcPts val="800"/>
              </a:spcAft>
            </a:pPr>
            <a:r>
              <a:rPr sz="1400" b="0">
                <a:solidFill>
                  <a:srgbClr val="222222"/>
                </a:solidFill>
                <a:latin typeface="Arial"/>
              </a:rPr>
              <a:t>50–60: medium</a:t>
            </a:r>
          </a:p>
          <a:p>
            <a:pPr algn="l">
              <a:spcAft>
                <a:spcPts val="800"/>
              </a:spcAft>
            </a:pPr>
            <a:r>
              <a:rPr sz="1400" b="0">
                <a:solidFill>
                  <a:srgbClr val="222222"/>
                </a:solidFill>
                <a:latin typeface="Arial"/>
              </a:rPr>
              <a:t>30–50: difficult (like a newspaper)</a:t>
            </a:r>
          </a:p>
          <a:p>
            <a:pPr algn="l">
              <a:spcAft>
                <a:spcPts val="800"/>
              </a:spcAft>
            </a:pPr>
            <a:r>
              <a:rPr sz="1400" b="0">
                <a:solidFill>
                  <a:srgbClr val="222222"/>
                </a:solidFill>
                <a:latin typeface="Arial"/>
              </a:rPr>
              <a:t>Under 30: very difficult (scientific text)</a:t>
            </a:r>
          </a:p>
        </p:txBody>
      </p:sp>
      <p:sp>
        <p:nvSpPr>
          <p:cNvPr id="9" name="TextBox 8"/>
          <p:cNvSpPr txBox="1"/>
          <p:nvPr/>
        </p:nvSpPr>
        <p:spPr>
          <a:xfrm>
            <a:off x="640080" y="3566160"/>
            <a:ext cx="7589520" cy="2011680"/>
          </a:xfrm>
          <a:prstGeom prst="rect">
            <a:avLst/>
          </a:prstGeom>
          <a:noFill/>
        </p:spPr>
        <p:txBody>
          <a:bodyPr wrap="square" lIns="0" tIns="0" rIns="0" bIns="0" anchor="t">
            <a:spAutoFit/>
          </a:bodyPr>
          <a:lstStyle/>
          <a:p>
            <a:pPr algn="l">
              <a:spcAft>
                <a:spcPts val="1000"/>
              </a:spcAft>
            </a:pPr>
            <a:r>
              <a:rPr sz="1600" b="0">
                <a:solidFill>
                  <a:srgbClr val="222222"/>
                </a:solidFill>
                <a:latin typeface="Arial"/>
              </a:rPr>
              <a:t>–  All three ways are now similar in readability and length – so if patients prefer one, it is because of the way of writing, not the length</a:t>
            </a:r>
          </a:p>
          <a:p>
            <a:pPr algn="l">
              <a:spcAft>
                <a:spcPts val="1000"/>
              </a:spcAft>
            </a:pPr>
            <a:r>
              <a:rPr sz="1600" b="0">
                <a:solidFill>
                  <a:srgbClr val="222222"/>
                </a:solidFill>
                <a:latin typeface="Arial"/>
              </a:rPr>
              <a:t>–  6 answers did not pass the check and Q14 (danger to others after discharge) differs between the three: the doctors look at these first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Why the sources matter</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8</a:t>
            </a:r>
          </a:p>
        </p:txBody>
      </p:sp>
      <p:graphicFrame>
        <p:nvGraphicFramePr>
          <p:cNvPr id="6" name="Table 5"/>
          <p:cNvGraphicFramePr>
            <a:graphicFrameLocks noGrp="1"/>
          </p:cNvGraphicFramePr>
          <p:nvPr/>
        </p:nvGraphicFramePr>
        <p:xfrm>
          <a:off x="640080" y="1463040"/>
          <a:ext cx="10607040" cy="150876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02920">
                <a:tc>
                  <a:txBody>
                    <a:bodyPr/>
                    <a:lstStyle/>
                    <a:p>
                      <a:endParaRPr/>
                    </a:p>
                  </a:txBody>
                  <a:tcPr>
                    <a:solidFill>
                      <a:srgbClr val="EEEEEE"/>
                    </a:solidFill>
                  </a:tcPr>
                </a:tc>
                <a:tc>
                  <a:txBody>
                    <a:bodyPr/>
                    <a:lstStyle/>
                    <a:p>
                      <a:r>
                        <a:rPr sz="1600" b="1">
                          <a:solidFill>
                            <a:srgbClr val="222222"/>
                          </a:solidFill>
                          <a:latin typeface="Arial"/>
                        </a:rPr>
                        <a:t>With sources</a:t>
                      </a:r>
                    </a:p>
                  </a:txBody>
                  <a:tcPr>
                    <a:solidFill>
                      <a:srgbClr val="EEEEEE"/>
                    </a:solidFill>
                  </a:tcPr>
                </a:tc>
                <a:tc>
                  <a:txBody>
                    <a:bodyPr/>
                    <a:lstStyle/>
                    <a:p>
                      <a:r>
                        <a:rPr sz="1600" b="1">
                          <a:solidFill>
                            <a:srgbClr val="222222"/>
                          </a:solidFill>
                          <a:latin typeface="Arial"/>
                        </a:rPr>
                        <a:t>Without sources</a:t>
                      </a:r>
                    </a:p>
                  </a:txBody>
                  <a:tcPr>
                    <a:solidFill>
                      <a:srgbClr val="EEEEEE"/>
                    </a:solidFill>
                  </a:tcPr>
                </a:tc>
                <a:extLst>
                  <a:ext uri="{0D108BD9-81ED-4DB2-BD59-A6C34878D82A}">
                    <a16:rowId xmlns:a16="http://schemas.microsoft.com/office/drawing/2014/main" val="10000"/>
                  </a:ext>
                </a:extLst>
              </a:tr>
              <a:tr h="502920">
                <a:tc>
                  <a:txBody>
                    <a:bodyPr/>
                    <a:lstStyle/>
                    <a:p>
                      <a:r>
                        <a:rPr sz="1600" b="0">
                          <a:solidFill>
                            <a:srgbClr val="222222"/>
                          </a:solidFill>
                          <a:latin typeface="Arial"/>
                        </a:rPr>
                        <a:t>Key facts correct (5 checked, per way of writing)</a:t>
                      </a:r>
                    </a:p>
                  </a:txBody>
                  <a:tcPr>
                    <a:solidFill>
                      <a:srgbClr val="FFFFFF"/>
                    </a:solidFill>
                  </a:tcPr>
                </a:tc>
                <a:tc>
                  <a:txBody>
                    <a:bodyPr/>
                    <a:lstStyle/>
                    <a:p>
                      <a:r>
                        <a:rPr sz="1600" b="0">
                          <a:solidFill>
                            <a:srgbClr val="222222"/>
                          </a:solidFill>
                          <a:latin typeface="Arial"/>
                        </a:rPr>
                        <a:t>4–5</a:t>
                      </a:r>
                    </a:p>
                  </a:txBody>
                  <a:tcPr>
                    <a:solidFill>
                      <a:srgbClr val="FFFFFF"/>
                    </a:solidFill>
                  </a:tcPr>
                </a:tc>
                <a:tc>
                  <a:txBody>
                    <a:bodyPr/>
                    <a:lstStyle/>
                    <a:p>
                      <a:r>
                        <a:rPr sz="1600" b="0">
                          <a:solidFill>
                            <a:srgbClr val="222222"/>
                          </a:solidFill>
                          <a:latin typeface="Arial"/>
                        </a:rPr>
                        <a:t>0–1</a:t>
                      </a:r>
                    </a:p>
                  </a:txBody>
                  <a:tcPr>
                    <a:solidFill>
                      <a:srgbClr val="FFFFFF"/>
                    </a:solidFill>
                  </a:tcPr>
                </a:tc>
                <a:extLst>
                  <a:ext uri="{0D108BD9-81ED-4DB2-BD59-A6C34878D82A}">
                    <a16:rowId xmlns:a16="http://schemas.microsoft.com/office/drawing/2014/main" val="10001"/>
                  </a:ext>
                </a:extLst>
              </a:tr>
              <a:tr h="502920">
                <a:tc>
                  <a:txBody>
                    <a:bodyPr/>
                    <a:lstStyle/>
                    <a:p>
                      <a:r>
                        <a:rPr sz="1600" b="0">
                          <a:solidFill>
                            <a:srgbClr val="222222"/>
                          </a:solidFill>
                          <a:latin typeface="Arial"/>
                        </a:rPr>
                        <a:t>Uncertainty about the facts (0 = sure)</a:t>
                      </a:r>
                    </a:p>
                  </a:txBody>
                  <a:tcPr>
                    <a:solidFill>
                      <a:srgbClr val="FFFFFF"/>
                    </a:solidFill>
                  </a:tcPr>
                </a:tc>
                <a:tc>
                  <a:txBody>
                    <a:bodyPr/>
                    <a:lstStyle/>
                    <a:p>
                      <a:r>
                        <a:rPr sz="1600" b="0">
                          <a:solidFill>
                            <a:srgbClr val="222222"/>
                          </a:solidFill>
                          <a:latin typeface="Arial"/>
                        </a:rPr>
                        <a:t>0.30–0.32</a:t>
                      </a:r>
                    </a:p>
                  </a:txBody>
                  <a:tcPr>
                    <a:solidFill>
                      <a:srgbClr val="FFFFFF"/>
                    </a:solidFill>
                  </a:tcPr>
                </a:tc>
                <a:tc>
                  <a:txBody>
                    <a:bodyPr/>
                    <a:lstStyle/>
                    <a:p>
                      <a:r>
                        <a:rPr sz="1600" b="0">
                          <a:solidFill>
                            <a:srgbClr val="222222"/>
                          </a:solidFill>
                          <a:latin typeface="Arial"/>
                        </a:rPr>
                        <a:t>0.30–0.34</a:t>
                      </a:r>
                    </a:p>
                  </a:txBody>
                  <a:tcPr>
                    <a:solidFill>
                      <a:srgbClr val="FF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640080" y="3200400"/>
            <a:ext cx="10881360" cy="365760"/>
          </a:xfrm>
          <a:prstGeom prst="rect">
            <a:avLst/>
          </a:prstGeom>
          <a:noFill/>
        </p:spPr>
        <p:txBody>
          <a:bodyPr wrap="square" lIns="0" tIns="0" rIns="0" bIns="0" anchor="t">
            <a:spAutoFit/>
          </a:bodyPr>
          <a:lstStyle/>
          <a:p>
            <a:pPr algn="l">
              <a:spcAft>
                <a:spcPts val="600"/>
              </a:spcAft>
            </a:pPr>
            <a:r>
              <a:rPr sz="1800" b="1">
                <a:solidFill>
                  <a:srgbClr val="222222"/>
                </a:solidFill>
                <a:latin typeface="Arial"/>
              </a:rPr>
              <a:t>Examples without sources</a:t>
            </a:r>
          </a:p>
        </p:txBody>
      </p:sp>
      <p:sp>
        <p:nvSpPr>
          <p:cNvPr id="8" name="TextBox 7"/>
          <p:cNvSpPr txBox="1"/>
          <p:nvPr/>
        </p:nvSpPr>
        <p:spPr>
          <a:xfrm>
            <a:off x="640080" y="3703320"/>
            <a:ext cx="10881360" cy="1828800"/>
          </a:xfrm>
          <a:prstGeom prst="rect">
            <a:avLst/>
          </a:prstGeom>
          <a:noFill/>
        </p:spPr>
        <p:txBody>
          <a:bodyPr wrap="square" lIns="0" tIns="0" rIns="0" bIns="0" anchor="t">
            <a:spAutoFit/>
          </a:bodyPr>
          <a:lstStyle/>
          <a:p>
            <a:pPr algn="l">
              <a:spcAft>
                <a:spcPts val="1000"/>
              </a:spcAft>
            </a:pPr>
            <a:r>
              <a:rPr sz="1600" b="0">
                <a:solidFill>
                  <a:srgbClr val="222222"/>
                </a:solidFill>
                <a:latin typeface="Arial"/>
              </a:rPr>
              <a:t>–  Visitors? – “Yes, you may have visitors”  (Insel: no visitors)</a:t>
            </a:r>
          </a:p>
          <a:p>
            <a:pPr algn="l">
              <a:spcAft>
                <a:spcPts val="1000"/>
              </a:spcAft>
            </a:pPr>
            <a:r>
              <a:rPr sz="1600" b="0">
                <a:solidFill>
                  <a:srgbClr val="222222"/>
                </a:solidFill>
                <a:latin typeface="Arial"/>
              </a:rPr>
              <a:t>–  Cure? – “Yes, a cure is possible”  (in this situation a cure is not expected)</a:t>
            </a:r>
          </a:p>
          <a:p>
            <a:pPr algn="l">
              <a:spcAft>
                <a:spcPts val="1000"/>
              </a:spcAft>
            </a:pPr>
            <a:r>
              <a:rPr sz="1600" b="0">
                <a:solidFill>
                  <a:srgbClr val="222222"/>
                </a:solidFill>
                <a:latin typeface="Arial"/>
              </a:rPr>
              <a:t>–  It even writes “the Insel patient information says …”, although it never saw it</a:t>
            </a:r>
          </a:p>
        </p:txBody>
      </p:sp>
      <p:sp>
        <p:nvSpPr>
          <p:cNvPr id="9" name="TextBox 8"/>
          <p:cNvSpPr txBox="1"/>
          <p:nvPr/>
        </p:nvSpPr>
        <p:spPr>
          <a:xfrm>
            <a:off x="640080" y="5257800"/>
            <a:ext cx="10881360" cy="822960"/>
          </a:xfrm>
          <a:prstGeom prst="rect">
            <a:avLst/>
          </a:prstGeom>
          <a:noFill/>
        </p:spPr>
        <p:txBody>
          <a:bodyPr wrap="square" lIns="0" tIns="0" rIns="0" bIns="0" anchor="t">
            <a:spAutoFit/>
          </a:bodyPr>
          <a:lstStyle/>
          <a:p>
            <a:pPr algn="l">
              <a:spcAft>
                <a:spcPts val="600"/>
              </a:spcAft>
            </a:pPr>
            <a:r>
              <a:rPr sz="1600" b="1">
                <a:solidFill>
                  <a:srgbClr val="222222"/>
                </a:solidFill>
                <a:latin typeface="Arial"/>
              </a:rPr>
              <a:t>→ The study only uses answers with sources</a:t>
            </a:r>
          </a:p>
          <a:p>
            <a:pPr algn="l">
              <a:spcAft>
                <a:spcPts val="600"/>
              </a:spcAft>
            </a:pPr>
            <a:r>
              <a:rPr sz="1600" b="1">
                <a:solidFill>
                  <a:srgbClr val="222222"/>
                </a:solidFill>
                <a:latin typeface="Arial"/>
              </a:rPr>
              <a:t>→ The uncertainty numbers barely changed – they did not warn about these errors. The study will show whether they are useful at 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The study app</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9</a:t>
            </a:r>
          </a:p>
        </p:txBody>
      </p:sp>
      <p:pic>
        <p:nvPicPr>
          <p:cNvPr id="6" name="Picture 5" descr="1_start.jpg"/>
          <p:cNvPicPr>
            <a:picLocks noChangeAspect="1"/>
          </p:cNvPicPr>
          <p:nvPr/>
        </p:nvPicPr>
        <p:blipFill>
          <a:blip r:embed="rId3"/>
          <a:stretch>
            <a:fillRect/>
          </a:stretch>
        </p:blipFill>
        <p:spPr>
          <a:xfrm>
            <a:off x="640080" y="1417320"/>
            <a:ext cx="2112654" cy="4572000"/>
          </a:xfrm>
          <a:prstGeom prst="rect">
            <a:avLst/>
          </a:prstGeom>
          <a:ln w="9525">
            <a:solidFill>
              <a:srgbClr val="BFBFBF"/>
            </a:solidFill>
          </a:ln>
        </p:spPr>
      </p:pic>
      <p:sp>
        <p:nvSpPr>
          <p:cNvPr id="7" name="TextBox 6"/>
          <p:cNvSpPr txBox="1"/>
          <p:nvPr/>
        </p:nvSpPr>
        <p:spPr>
          <a:xfrm>
            <a:off x="640080" y="6099048"/>
            <a:ext cx="2112654" cy="274320"/>
          </a:xfrm>
          <a:prstGeom prst="rect">
            <a:avLst/>
          </a:prstGeom>
          <a:noFill/>
        </p:spPr>
        <p:txBody>
          <a:bodyPr wrap="square" lIns="0" tIns="0" rIns="0" bIns="0" anchor="t">
            <a:spAutoFit/>
          </a:bodyPr>
          <a:lstStyle/>
          <a:p>
            <a:pPr algn="l">
              <a:spcAft>
                <a:spcPts val="600"/>
              </a:spcAft>
            </a:pPr>
            <a:r>
              <a:rPr sz="1200" b="0">
                <a:solidFill>
                  <a:srgbClr val="707070"/>
                </a:solidFill>
                <a:latin typeface="Arial"/>
              </a:rPr>
              <a:t>1  Start page</a:t>
            </a:r>
          </a:p>
        </p:txBody>
      </p:sp>
      <p:pic>
        <p:nvPicPr>
          <p:cNvPr id="8" name="Picture 7" descr="1b_role.jpg"/>
          <p:cNvPicPr>
            <a:picLocks noChangeAspect="1"/>
          </p:cNvPicPr>
          <p:nvPr/>
        </p:nvPicPr>
        <p:blipFill>
          <a:blip r:embed="rId4"/>
          <a:stretch>
            <a:fillRect/>
          </a:stretch>
        </p:blipFill>
        <p:spPr>
          <a:xfrm>
            <a:off x="3429000" y="1417320"/>
            <a:ext cx="2112654" cy="4572000"/>
          </a:xfrm>
          <a:prstGeom prst="rect">
            <a:avLst/>
          </a:prstGeom>
          <a:ln w="9525">
            <a:solidFill>
              <a:srgbClr val="BFBFBF"/>
            </a:solidFill>
          </a:ln>
        </p:spPr>
      </p:pic>
      <p:sp>
        <p:nvSpPr>
          <p:cNvPr id="9" name="TextBox 8"/>
          <p:cNvSpPr txBox="1"/>
          <p:nvPr/>
        </p:nvSpPr>
        <p:spPr>
          <a:xfrm>
            <a:off x="3429000" y="6099048"/>
            <a:ext cx="2112654" cy="274320"/>
          </a:xfrm>
          <a:prstGeom prst="rect">
            <a:avLst/>
          </a:prstGeom>
          <a:noFill/>
        </p:spPr>
        <p:txBody>
          <a:bodyPr wrap="square" lIns="0" tIns="0" rIns="0" bIns="0" anchor="t">
            <a:spAutoFit/>
          </a:bodyPr>
          <a:lstStyle/>
          <a:p>
            <a:pPr algn="l">
              <a:spcAft>
                <a:spcPts val="600"/>
              </a:spcAft>
            </a:pPr>
            <a:r>
              <a:rPr sz="1200" b="0">
                <a:solidFill>
                  <a:srgbClr val="707070"/>
                </a:solidFill>
                <a:latin typeface="Arial"/>
              </a:rPr>
              <a:t>2  Role and age group</a:t>
            </a:r>
          </a:p>
        </p:txBody>
      </p:sp>
      <p:pic>
        <p:nvPicPr>
          <p:cNvPr id="10" name="Picture 9" descr="2_answer.jpg"/>
          <p:cNvPicPr>
            <a:picLocks noChangeAspect="1"/>
          </p:cNvPicPr>
          <p:nvPr/>
        </p:nvPicPr>
        <p:blipFill>
          <a:blip r:embed="rId5"/>
          <a:stretch>
            <a:fillRect/>
          </a:stretch>
        </p:blipFill>
        <p:spPr>
          <a:xfrm>
            <a:off x="6217920" y="1417320"/>
            <a:ext cx="2112654" cy="4572000"/>
          </a:xfrm>
          <a:prstGeom prst="rect">
            <a:avLst/>
          </a:prstGeom>
          <a:ln w="9525">
            <a:solidFill>
              <a:srgbClr val="BFBFBF"/>
            </a:solidFill>
          </a:ln>
        </p:spPr>
      </p:pic>
      <p:sp>
        <p:nvSpPr>
          <p:cNvPr id="11" name="TextBox 10"/>
          <p:cNvSpPr txBox="1"/>
          <p:nvPr/>
        </p:nvSpPr>
        <p:spPr>
          <a:xfrm>
            <a:off x="6217920" y="6099048"/>
            <a:ext cx="2112654" cy="274320"/>
          </a:xfrm>
          <a:prstGeom prst="rect">
            <a:avLst/>
          </a:prstGeom>
          <a:noFill/>
        </p:spPr>
        <p:txBody>
          <a:bodyPr wrap="square" lIns="0" tIns="0" rIns="0" bIns="0" anchor="t">
            <a:spAutoFit/>
          </a:bodyPr>
          <a:lstStyle/>
          <a:p>
            <a:pPr algn="l">
              <a:spcAft>
                <a:spcPts val="600"/>
              </a:spcAft>
            </a:pPr>
            <a:r>
              <a:rPr sz="1200" b="0">
                <a:solidFill>
                  <a:srgbClr val="707070"/>
                </a:solidFill>
                <a:latin typeface="Arial"/>
              </a:rPr>
              <a:t>3  Question and answer</a:t>
            </a:r>
          </a:p>
        </p:txBody>
      </p:sp>
      <p:pic>
        <p:nvPicPr>
          <p:cNvPr id="12" name="Picture 11" descr="3_rating.jpg"/>
          <p:cNvPicPr>
            <a:picLocks noChangeAspect="1"/>
          </p:cNvPicPr>
          <p:nvPr/>
        </p:nvPicPr>
        <p:blipFill>
          <a:blip r:embed="rId6"/>
          <a:stretch>
            <a:fillRect/>
          </a:stretch>
        </p:blipFill>
        <p:spPr>
          <a:xfrm>
            <a:off x="9006839" y="1417320"/>
            <a:ext cx="2112654" cy="4572000"/>
          </a:xfrm>
          <a:prstGeom prst="rect">
            <a:avLst/>
          </a:prstGeom>
          <a:ln w="9525">
            <a:solidFill>
              <a:srgbClr val="BFBFBF"/>
            </a:solidFill>
          </a:ln>
        </p:spPr>
      </p:pic>
      <p:sp>
        <p:nvSpPr>
          <p:cNvPr id="13" name="TextBox 12"/>
          <p:cNvSpPr txBox="1"/>
          <p:nvPr/>
        </p:nvSpPr>
        <p:spPr>
          <a:xfrm>
            <a:off x="9006839" y="6099048"/>
            <a:ext cx="2112654" cy="274320"/>
          </a:xfrm>
          <a:prstGeom prst="rect">
            <a:avLst/>
          </a:prstGeom>
          <a:noFill/>
        </p:spPr>
        <p:txBody>
          <a:bodyPr wrap="square" lIns="0" tIns="0" rIns="0" bIns="0" anchor="t">
            <a:spAutoFit/>
          </a:bodyPr>
          <a:lstStyle/>
          <a:p>
            <a:pPr algn="l">
              <a:spcAft>
                <a:spcPts val="600"/>
              </a:spcAft>
            </a:pPr>
            <a:r>
              <a:rPr sz="1200" b="0">
                <a:solidFill>
                  <a:srgbClr val="707070"/>
                </a:solidFill>
                <a:latin typeface="Arial"/>
              </a:rPr>
              <a:t>4  Rating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How a participant takes part</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10</a:t>
            </a:r>
          </a:p>
        </p:txBody>
      </p:sp>
      <p:pic>
        <p:nvPicPr>
          <p:cNvPr id="6" name="Picture 5" descr="4_debrief.jpg"/>
          <p:cNvPicPr>
            <a:picLocks noChangeAspect="1"/>
          </p:cNvPicPr>
          <p:nvPr/>
        </p:nvPicPr>
        <p:blipFill>
          <a:blip r:embed="rId3"/>
          <a:stretch>
            <a:fillRect/>
          </a:stretch>
        </p:blipFill>
        <p:spPr>
          <a:xfrm>
            <a:off x="640080" y="1417320"/>
            <a:ext cx="2112654" cy="4572000"/>
          </a:xfrm>
          <a:prstGeom prst="rect">
            <a:avLst/>
          </a:prstGeom>
          <a:ln w="9525">
            <a:solidFill>
              <a:srgbClr val="BFBFBF"/>
            </a:solidFill>
          </a:ln>
        </p:spPr>
      </p:pic>
      <p:sp>
        <p:nvSpPr>
          <p:cNvPr id="7" name="TextBox 6"/>
          <p:cNvSpPr txBox="1"/>
          <p:nvPr/>
        </p:nvSpPr>
        <p:spPr>
          <a:xfrm>
            <a:off x="640080" y="6099048"/>
            <a:ext cx="2112654" cy="274320"/>
          </a:xfrm>
          <a:prstGeom prst="rect">
            <a:avLst/>
          </a:prstGeom>
          <a:noFill/>
        </p:spPr>
        <p:txBody>
          <a:bodyPr wrap="square" lIns="0" tIns="0" rIns="0" bIns="0" anchor="t">
            <a:spAutoFit/>
          </a:bodyPr>
          <a:lstStyle/>
          <a:p>
            <a:pPr algn="l">
              <a:spcAft>
                <a:spcPts val="600"/>
              </a:spcAft>
            </a:pPr>
            <a:r>
              <a:rPr sz="1200" b="0">
                <a:solidFill>
                  <a:srgbClr val="707070"/>
                </a:solidFill>
                <a:latin typeface="Arial"/>
              </a:rPr>
              <a:t>5  End: information sheet</a:t>
            </a:r>
          </a:p>
        </p:txBody>
      </p:sp>
      <p:sp>
        <p:nvSpPr>
          <p:cNvPr id="8" name="TextBox 7"/>
          <p:cNvSpPr txBox="1"/>
          <p:nvPr/>
        </p:nvSpPr>
        <p:spPr>
          <a:xfrm>
            <a:off x="3657600" y="1463040"/>
            <a:ext cx="7863840" cy="4572000"/>
          </a:xfrm>
          <a:prstGeom prst="rect">
            <a:avLst/>
          </a:prstGeom>
          <a:noFill/>
        </p:spPr>
        <p:txBody>
          <a:bodyPr wrap="square" lIns="0" tIns="0" rIns="0" bIns="0" anchor="t">
            <a:spAutoFit/>
          </a:bodyPr>
          <a:lstStyle/>
          <a:p>
            <a:pPr algn="l">
              <a:spcAft>
                <a:spcPts val="1000"/>
              </a:spcAft>
            </a:pPr>
            <a:r>
              <a:rPr sz="1600" b="0">
                <a:solidFill>
                  <a:srgbClr val="222222"/>
                </a:solidFill>
                <a:latin typeface="Arial"/>
              </a:rPr>
              <a:t>–  Patients scan a QR code, doctors get a link; both use their own phone</a:t>
            </a:r>
          </a:p>
          <a:p>
            <a:pPr algn="l">
              <a:spcAft>
                <a:spcPts val="1000"/>
              </a:spcAft>
            </a:pPr>
            <a:r>
              <a:rPr sz="1600" b="0">
                <a:solidFill>
                  <a:srgbClr val="222222"/>
                </a:solidFill>
                <a:latin typeface="Arial"/>
              </a:rPr>
              <a:t>–  Each person reads 10 answers (out of 20 questions), about 15 minutes</a:t>
            </a:r>
          </a:p>
          <a:p>
            <a:pPr algn="l">
              <a:spcAft>
                <a:spcPts val="1000"/>
              </a:spcAft>
            </a:pPr>
            <a:r>
              <a:rPr sz="1600" b="0">
                <a:solidFill>
                  <a:srgbClr val="222222"/>
                </a:solidFill>
                <a:latin typeface="Arial"/>
              </a:rPr>
              <a:t>–  For each answer they choose one of four statements, e.g. “clear and reassuring” or “too complicated”</a:t>
            </a:r>
          </a:p>
          <a:p>
            <a:pPr algn="l">
              <a:spcAft>
                <a:spcPts val="1000"/>
              </a:spcAft>
            </a:pPr>
            <a:r>
              <a:rPr sz="1600" b="0">
                <a:solidFill>
                  <a:srgbClr val="222222"/>
                </a:solidFill>
                <a:latin typeface="Arial"/>
              </a:rPr>
              <a:t>–  They do not know which of the three ways wrote the answer</a:t>
            </a:r>
          </a:p>
          <a:p>
            <a:pPr algn="l">
              <a:spcAft>
                <a:spcPts val="1000"/>
              </a:spcAft>
            </a:pPr>
            <a:r>
              <a:rPr sz="1600" b="0">
                <a:solidFill>
                  <a:srgbClr val="222222"/>
                </a:solidFill>
                <a:latin typeface="Arial"/>
              </a:rPr>
              <a:t>–  Every question is rated equally often, by patients and by doctors</a:t>
            </a:r>
          </a:p>
          <a:p>
            <a:pPr algn="l">
              <a:spcAft>
                <a:spcPts val="1000"/>
              </a:spcAft>
            </a:pPr>
            <a:r>
              <a:rPr sz="1600" b="0">
                <a:solidFill>
                  <a:srgbClr val="222222"/>
                </a:solidFill>
                <a:latin typeface="Arial"/>
              </a:rPr>
              <a:t>–  Anonymous: no name, only age group and gender</a:t>
            </a:r>
          </a:p>
          <a:p>
            <a:pPr algn="l">
              <a:spcAft>
                <a:spcPts val="1000"/>
              </a:spcAft>
            </a:pPr>
            <a:r>
              <a:rPr sz="1600" b="0">
                <a:solidFill>
                  <a:srgbClr val="222222"/>
                </a:solidFill>
                <a:latin typeface="Arial"/>
              </a:rPr>
              <a:t>–  At the end: a sheet with the correct key facts about the therapy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spAutoFit/>
          </a:bodyPr>
          <a:lstStyle/>
          <a:p>
            <a:pPr algn="l"/>
            <a:r>
              <a:rPr sz="2800" b="1">
                <a:solidFill>
                  <a:srgbClr val="222222"/>
                </a:solidFill>
                <a:latin typeface="Arial"/>
              </a:rPr>
              <a:t>Flyer and poster</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spAutoFit/>
          </a:bodyPr>
          <a:lstStyle/>
          <a:p>
            <a:pPr algn="l"/>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spAutoFit/>
          </a:bodyPr>
          <a:lstStyle/>
          <a:p>
            <a:pPr algn="r"/>
            <a:r>
              <a:rPr sz="1000" b="0">
                <a:solidFill>
                  <a:srgbClr val="707070"/>
                </a:solidFill>
                <a:latin typeface="Arial"/>
              </a:rPr>
              <a:t>12</a:t>
            </a:r>
          </a:p>
        </p:txBody>
      </p:sp>
      <p:pic>
        <p:nvPicPr>
          <p:cNvPr id="6" name="Picture 5" descr="flyer-1.jpg"/>
          <p:cNvPicPr>
            <a:picLocks noChangeAspect="1"/>
          </p:cNvPicPr>
          <p:nvPr/>
        </p:nvPicPr>
        <p:blipFill>
          <a:blip r:embed="rId3"/>
          <a:stretch>
            <a:fillRect/>
          </a:stretch>
        </p:blipFill>
        <p:spPr>
          <a:xfrm>
            <a:off x="640080" y="1463040"/>
            <a:ext cx="7406640" cy="2662065"/>
          </a:xfrm>
          <a:prstGeom prst="rect">
            <a:avLst/>
          </a:prstGeom>
          <a:ln w="9525">
            <a:solidFill>
              <a:srgbClr val="BFBFBF"/>
            </a:solidFill>
          </a:ln>
        </p:spPr>
      </p:pic>
      <p:sp>
        <p:nvSpPr>
          <p:cNvPr id="7" name="TextBox 6"/>
          <p:cNvSpPr txBox="1"/>
          <p:nvPr/>
        </p:nvSpPr>
        <p:spPr>
          <a:xfrm>
            <a:off x="640080" y="4234833"/>
            <a:ext cx="7406640" cy="274320"/>
          </a:xfrm>
          <a:prstGeom prst="rect">
            <a:avLst/>
          </a:prstGeom>
          <a:noFill/>
        </p:spPr>
        <p:txBody>
          <a:bodyPr wrap="square" lIns="0" tIns="0" rIns="0" bIns="0">
            <a:spAutoFit/>
          </a:bodyPr>
          <a:lstStyle/>
          <a:p>
            <a:pPr algn="l"/>
            <a:r>
              <a:rPr sz="1200" b="0">
                <a:solidFill>
                  <a:srgbClr val="707070"/>
                </a:solidFill>
                <a:latin typeface="Arial"/>
              </a:rPr>
              <a:t>Flyer, A4 tri-fold (outside left, inside right)</a:t>
            </a:r>
          </a:p>
        </p:txBody>
      </p:sp>
      <p:pic>
        <p:nvPicPr>
          <p:cNvPr id="8" name="Picture 7" descr="poster-1.jpg"/>
          <p:cNvPicPr>
            <a:picLocks noChangeAspect="1"/>
          </p:cNvPicPr>
          <p:nvPr/>
        </p:nvPicPr>
        <p:blipFill>
          <a:blip r:embed="rId4"/>
          <a:stretch>
            <a:fillRect/>
          </a:stretch>
        </p:blipFill>
        <p:spPr>
          <a:xfrm>
            <a:off x="8458200" y="1463040"/>
            <a:ext cx="3168894" cy="4480560"/>
          </a:xfrm>
          <a:prstGeom prst="rect">
            <a:avLst/>
          </a:prstGeom>
          <a:ln w="9525">
            <a:solidFill>
              <a:srgbClr val="BFBFBF"/>
            </a:solidFill>
          </a:ln>
        </p:spPr>
      </p:pic>
      <p:sp>
        <p:nvSpPr>
          <p:cNvPr id="9" name="TextBox 8"/>
          <p:cNvSpPr txBox="1"/>
          <p:nvPr/>
        </p:nvSpPr>
        <p:spPr>
          <a:xfrm>
            <a:off x="8458200" y="6053328"/>
            <a:ext cx="3108960" cy="274320"/>
          </a:xfrm>
          <a:prstGeom prst="rect">
            <a:avLst/>
          </a:prstGeom>
          <a:noFill/>
        </p:spPr>
        <p:txBody>
          <a:bodyPr wrap="square" lIns="0" tIns="0" rIns="0" bIns="0">
            <a:spAutoFit/>
          </a:bodyPr>
          <a:lstStyle/>
          <a:p>
            <a:pPr algn="l"/>
            <a:r>
              <a:rPr sz="1200" b="0">
                <a:solidFill>
                  <a:srgbClr val="707070"/>
                </a:solidFill>
                <a:latin typeface="Arial"/>
              </a:rPr>
              <a:t>Poster, A3, waiting room</a:t>
            </a:r>
          </a:p>
        </p:txBody>
      </p:sp>
      <p:sp>
        <p:nvSpPr>
          <p:cNvPr id="10" name="TextBox 9"/>
          <p:cNvSpPr txBox="1"/>
          <p:nvPr/>
        </p:nvSpPr>
        <p:spPr>
          <a:xfrm>
            <a:off x="640080" y="4572000"/>
            <a:ext cx="7406640" cy="215444"/>
          </a:xfrm>
          <a:prstGeom prst="rect">
            <a:avLst/>
          </a:prstGeom>
          <a:noFill/>
        </p:spPr>
        <p:txBody>
          <a:bodyPr wrap="square" lIns="0" tIns="0" rIns="0" bIns="0">
            <a:spAutoFit/>
          </a:bodyPr>
          <a:lstStyle/>
          <a:p>
            <a:pPr algn="l"/>
            <a:r>
              <a:rPr sz="1400" b="0" dirty="0">
                <a:solidFill>
                  <a:srgbClr val="222222"/>
                </a:solidFill>
                <a:latin typeface="Arial"/>
              </a:rPr>
              <a:t>Both lead to the app with a QR code (empathicllmstudy1.streamlit.app)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Ethics committee: three points differ</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13</a:t>
            </a:r>
          </a:p>
        </p:txBody>
      </p:sp>
      <p:graphicFrame>
        <p:nvGraphicFramePr>
          <p:cNvPr id="6" name="Table 5"/>
          <p:cNvGraphicFramePr>
            <a:graphicFrameLocks noGrp="1"/>
          </p:cNvGraphicFramePr>
          <p:nvPr/>
        </p:nvGraphicFramePr>
        <p:xfrm>
          <a:off x="640080" y="1463040"/>
          <a:ext cx="10607040" cy="33223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57200">
                <a:tc>
                  <a:txBody>
                    <a:bodyPr/>
                    <a:lstStyle/>
                    <a:p>
                      <a:endParaRPr/>
                    </a:p>
                  </a:txBody>
                  <a:tcPr>
                    <a:solidFill>
                      <a:srgbClr val="EEEEEE"/>
                    </a:solidFill>
                  </a:tcPr>
                </a:tc>
                <a:tc>
                  <a:txBody>
                    <a:bodyPr/>
                    <a:lstStyle/>
                    <a:p>
                      <a:r>
                        <a:rPr sz="1600" b="1">
                          <a:solidFill>
                            <a:srgbClr val="222222"/>
                          </a:solidFill>
                          <a:latin typeface="Arial"/>
                        </a:rPr>
                        <a:t>What we described to the ethics committee</a:t>
                      </a:r>
                    </a:p>
                  </a:txBody>
                  <a:tcPr>
                    <a:solidFill>
                      <a:srgbClr val="EEEEEE"/>
                    </a:solidFill>
                  </a:tcPr>
                </a:tc>
                <a:tc>
                  <a:txBody>
                    <a:bodyPr/>
                    <a:lstStyle/>
                    <a:p>
                      <a:r>
                        <a:rPr sz="1600" b="1">
                          <a:solidFill>
                            <a:srgbClr val="222222"/>
                          </a:solidFill>
                          <a:latin typeface="Arial"/>
                        </a:rPr>
                        <a:t>The app today</a:t>
                      </a:r>
                    </a:p>
                  </a:txBody>
                  <a:tcPr>
                    <a:solidFill>
                      <a:srgbClr val="EEEEEE"/>
                    </a:solidFill>
                  </a:tcPr>
                </a:tc>
                <a:extLst>
                  <a:ext uri="{0D108BD9-81ED-4DB2-BD59-A6C34878D82A}">
                    <a16:rowId xmlns:a16="http://schemas.microsoft.com/office/drawing/2014/main" val="10000"/>
                  </a:ext>
                </a:extLst>
              </a:tr>
              <a:tr h="457200">
                <a:tc>
                  <a:txBody>
                    <a:bodyPr/>
                    <a:lstStyle/>
                    <a:p>
                      <a:r>
                        <a:rPr sz="1600" b="0">
                          <a:solidFill>
                            <a:srgbClr val="222222"/>
                          </a:solidFill>
                          <a:latin typeface="Arial"/>
                        </a:rPr>
                        <a:t>Questions</a:t>
                      </a:r>
                    </a:p>
                  </a:txBody>
                  <a:tcPr>
                    <a:solidFill>
                      <a:srgbClr val="FFFFFF"/>
                    </a:solidFill>
                  </a:tcPr>
                </a:tc>
                <a:tc>
                  <a:txBody>
                    <a:bodyPr/>
                    <a:lstStyle/>
                    <a:p>
                      <a:r>
                        <a:rPr sz="1600" b="0">
                          <a:solidFill>
                            <a:srgbClr val="222222"/>
                          </a:solidFill>
                          <a:latin typeface="Arial"/>
                        </a:rPr>
                        <a:t>10</a:t>
                      </a:r>
                    </a:p>
                  </a:txBody>
                  <a:tcPr>
                    <a:solidFill>
                      <a:srgbClr val="FFFFFF"/>
                    </a:solidFill>
                  </a:tcPr>
                </a:tc>
                <a:tc>
                  <a:txBody>
                    <a:bodyPr/>
                    <a:lstStyle/>
                    <a:p>
                      <a:r>
                        <a:rPr sz="1600" b="0">
                          <a:solidFill>
                            <a:srgbClr val="222222"/>
                          </a:solidFill>
                          <a:latin typeface="Arial"/>
                        </a:rPr>
                        <a:t>10 (out of 20)</a:t>
                      </a:r>
                    </a:p>
                  </a:txBody>
                  <a:tcPr>
                    <a:solidFill>
                      <a:srgbClr val="FFFFFF"/>
                    </a:solidFill>
                  </a:tcPr>
                </a:tc>
                <a:extLst>
                  <a:ext uri="{0D108BD9-81ED-4DB2-BD59-A6C34878D82A}">
                    <a16:rowId xmlns:a16="http://schemas.microsoft.com/office/drawing/2014/main" val="10001"/>
                  </a:ext>
                </a:extLst>
              </a:tr>
              <a:tr h="457200">
                <a:tc>
                  <a:txBody>
                    <a:bodyPr/>
                    <a:lstStyle/>
                    <a:p>
                      <a:r>
                        <a:rPr sz="1600" b="0">
                          <a:solidFill>
                            <a:srgbClr val="222222"/>
                          </a:solidFill>
                          <a:latin typeface="Arial"/>
                        </a:rPr>
                        <a:t>Participants</a:t>
                      </a:r>
                    </a:p>
                  </a:txBody>
                  <a:tcPr>
                    <a:solidFill>
                      <a:srgbClr val="FFFFFF"/>
                    </a:solidFill>
                  </a:tcPr>
                </a:tc>
                <a:tc>
                  <a:txBody>
                    <a:bodyPr/>
                    <a:lstStyle/>
                    <a:p>
                      <a:r>
                        <a:rPr sz="1600" b="0">
                          <a:solidFill>
                            <a:srgbClr val="222222"/>
                          </a:solidFill>
                          <a:latin typeface="Arial"/>
                        </a:rPr>
                        <a:t>patients and doctors</a:t>
                      </a:r>
                    </a:p>
                  </a:txBody>
                  <a:tcPr>
                    <a:solidFill>
                      <a:srgbClr val="FFFFFF"/>
                    </a:solidFill>
                  </a:tcPr>
                </a:tc>
                <a:tc>
                  <a:txBody>
                    <a:bodyPr/>
                    <a:lstStyle/>
                    <a:p>
                      <a:r>
                        <a:rPr sz="1600" b="0">
                          <a:solidFill>
                            <a:srgbClr val="222222"/>
                          </a:solidFill>
                          <a:latin typeface="Arial"/>
                        </a:rPr>
                        <a:t>patients and doctors</a:t>
                      </a:r>
                    </a:p>
                  </a:txBody>
                  <a:tcPr>
                    <a:solidFill>
                      <a:srgbClr val="FFFFFF"/>
                    </a:solidFill>
                  </a:tcPr>
                </a:tc>
                <a:extLst>
                  <a:ext uri="{0D108BD9-81ED-4DB2-BD59-A6C34878D82A}">
                    <a16:rowId xmlns:a16="http://schemas.microsoft.com/office/drawing/2014/main" val="10002"/>
                  </a:ext>
                </a:extLst>
              </a:tr>
              <a:tr h="457200">
                <a:tc>
                  <a:txBody>
                    <a:bodyPr/>
                    <a:lstStyle/>
                    <a:p>
                      <a:r>
                        <a:rPr sz="1600" b="0">
                          <a:solidFill>
                            <a:srgbClr val="222222"/>
                          </a:solidFill>
                          <a:latin typeface="Arial"/>
                        </a:rPr>
                        <a:t>Data</a:t>
                      </a:r>
                    </a:p>
                  </a:txBody>
                  <a:tcPr>
                    <a:solidFill>
                      <a:srgbClr val="FFFFFF"/>
                    </a:solidFill>
                  </a:tcPr>
                </a:tc>
                <a:tc>
                  <a:txBody>
                    <a:bodyPr/>
                    <a:lstStyle/>
                    <a:p>
                      <a:r>
                        <a:rPr sz="1600" b="0">
                          <a:solidFill>
                            <a:srgbClr val="222222"/>
                          </a:solidFill>
                          <a:latin typeface="Arial"/>
                        </a:rPr>
                        <a:t>anonymous</a:t>
                      </a:r>
                    </a:p>
                  </a:txBody>
                  <a:tcPr>
                    <a:solidFill>
                      <a:srgbClr val="FFFFFF"/>
                    </a:solidFill>
                  </a:tcPr>
                </a:tc>
                <a:tc>
                  <a:txBody>
                    <a:bodyPr/>
                    <a:lstStyle/>
                    <a:p>
                      <a:r>
                        <a:rPr sz="1600" b="0">
                          <a:solidFill>
                            <a:srgbClr val="222222"/>
                          </a:solidFill>
                          <a:latin typeface="Arial"/>
                        </a:rPr>
                        <a:t>anonymous</a:t>
                      </a:r>
                    </a:p>
                  </a:txBody>
                  <a:tcPr>
                    <a:solidFill>
                      <a:srgbClr val="FFFFFF"/>
                    </a:solidFill>
                  </a:tcPr>
                </a:tc>
                <a:extLst>
                  <a:ext uri="{0D108BD9-81ED-4DB2-BD59-A6C34878D82A}">
                    <a16:rowId xmlns:a16="http://schemas.microsoft.com/office/drawing/2014/main" val="10003"/>
                  </a:ext>
                </a:extLst>
              </a:tr>
              <a:tr h="457200">
                <a:tc>
                  <a:txBody>
                    <a:bodyPr/>
                    <a:lstStyle/>
                    <a:p>
                      <a:r>
                        <a:rPr sz="1600" b="0">
                          <a:solidFill>
                            <a:srgbClr val="222222"/>
                          </a:solidFill>
                          <a:latin typeface="Arial"/>
                        </a:rPr>
                        <a:t>Rating</a:t>
                      </a:r>
                    </a:p>
                  </a:txBody>
                  <a:tcPr>
                    <a:solidFill>
                      <a:srgbClr val="FFFFFF"/>
                    </a:solidFill>
                  </a:tcPr>
                </a:tc>
                <a:tc>
                  <a:txBody>
                    <a:bodyPr/>
                    <a:lstStyle/>
                    <a:p>
                      <a:r>
                        <a:rPr sz="1600" b="0">
                          <a:solidFill>
                            <a:srgbClr val="222222"/>
                          </a:solidFill>
                          <a:latin typeface="Arial"/>
                        </a:rPr>
                        <a:t>compare answer A with answer B</a:t>
                      </a:r>
                    </a:p>
                  </a:txBody>
                  <a:tcPr>
                    <a:solidFill>
                      <a:srgbClr val="FFFFFF"/>
                    </a:solidFill>
                  </a:tcPr>
                </a:tc>
                <a:tc>
                  <a:txBody>
                    <a:bodyPr/>
                    <a:lstStyle/>
                    <a:p>
                      <a:r>
                        <a:rPr sz="1600" b="0">
                          <a:solidFill>
                            <a:srgbClr val="222222"/>
                          </a:solidFill>
                          <a:latin typeface="Arial"/>
                        </a:rPr>
                        <a:t>rate one answer at a time</a:t>
                      </a:r>
                    </a:p>
                  </a:txBody>
                  <a:tcPr>
                    <a:solidFill>
                      <a:srgbClr val="FFFFFF"/>
                    </a:solidFill>
                  </a:tcPr>
                </a:tc>
                <a:extLst>
                  <a:ext uri="{0D108BD9-81ED-4DB2-BD59-A6C34878D82A}">
                    <a16:rowId xmlns:a16="http://schemas.microsoft.com/office/drawing/2014/main" val="10004"/>
                  </a:ext>
                </a:extLst>
              </a:tr>
              <a:tr h="457200">
                <a:tc>
                  <a:txBody>
                    <a:bodyPr/>
                    <a:lstStyle/>
                    <a:p>
                      <a:r>
                        <a:rPr sz="1600" b="0">
                          <a:solidFill>
                            <a:srgbClr val="222222"/>
                          </a:solidFill>
                          <a:latin typeface="Arial"/>
                        </a:rPr>
                        <a:t>Ways of writing</a:t>
                      </a:r>
                    </a:p>
                  </a:txBody>
                  <a:tcPr>
                    <a:solidFill>
                      <a:srgbClr val="FFFFFF"/>
                    </a:solidFill>
                  </a:tcPr>
                </a:tc>
                <a:tc>
                  <a:txBody>
                    <a:bodyPr/>
                    <a:lstStyle/>
                    <a:p>
                      <a:r>
                        <a:rPr sz="1600" b="0">
                          <a:solidFill>
                            <a:srgbClr val="222222"/>
                          </a:solidFill>
                          <a:latin typeface="Arial"/>
                        </a:rPr>
                        <a:t>2 (new method vs. standard)</a:t>
                      </a:r>
                    </a:p>
                  </a:txBody>
                  <a:tcPr>
                    <a:solidFill>
                      <a:srgbClr val="FFFFFF"/>
                    </a:solidFill>
                  </a:tcPr>
                </a:tc>
                <a:tc>
                  <a:txBody>
                    <a:bodyPr/>
                    <a:lstStyle/>
                    <a:p>
                      <a:r>
                        <a:rPr sz="1600" b="0">
                          <a:solidFill>
                            <a:srgbClr val="222222"/>
                          </a:solidFill>
                          <a:latin typeface="Arial"/>
                        </a:rPr>
                        <a:t>3</a:t>
                      </a:r>
                    </a:p>
                  </a:txBody>
                  <a:tcPr>
                    <a:solidFill>
                      <a:srgbClr val="FFFFFF"/>
                    </a:solidFill>
                  </a:tcPr>
                </a:tc>
                <a:extLst>
                  <a:ext uri="{0D108BD9-81ED-4DB2-BD59-A6C34878D82A}">
                    <a16:rowId xmlns:a16="http://schemas.microsoft.com/office/drawing/2014/main" val="10005"/>
                  </a:ext>
                </a:extLst>
              </a:tr>
              <a:tr h="457200">
                <a:tc>
                  <a:txBody>
                    <a:bodyPr/>
                    <a:lstStyle/>
                    <a:p>
                      <a:r>
                        <a:rPr sz="1600" b="0">
                          <a:solidFill>
                            <a:srgbClr val="222222"/>
                          </a:solidFill>
                          <a:latin typeface="Arial"/>
                        </a:rPr>
                        <a:t>Health data</a:t>
                      </a:r>
                    </a:p>
                  </a:txBody>
                  <a:tcPr>
                    <a:solidFill>
                      <a:srgbClr val="FFFFFF"/>
                    </a:solidFill>
                  </a:tcPr>
                </a:tc>
                <a:tc>
                  <a:txBody>
                    <a:bodyPr/>
                    <a:lstStyle/>
                    <a:p>
                      <a:r>
                        <a:rPr sz="1600" b="0">
                          <a:solidFill>
                            <a:srgbClr val="222222"/>
                          </a:solidFill>
                          <a:latin typeface="Arial"/>
                        </a:rPr>
                        <a:t>none</a:t>
                      </a:r>
                    </a:p>
                  </a:txBody>
                  <a:tcPr>
                    <a:solidFill>
                      <a:srgbClr val="FFFFFF"/>
                    </a:solidFill>
                  </a:tcPr>
                </a:tc>
                <a:tc>
                  <a:txBody>
                    <a:bodyPr/>
                    <a:lstStyle/>
                    <a:p>
                      <a:r>
                        <a:rPr sz="1600" b="0">
                          <a:solidFill>
                            <a:srgbClr val="222222"/>
                          </a:solidFill>
                          <a:latin typeface="Arial"/>
                        </a:rPr>
                        <a:t>questions on worries and mood</a:t>
                      </a:r>
                    </a:p>
                  </a:txBody>
                  <a:tcPr>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4937760"/>
            <a:ext cx="10881360" cy="731520"/>
          </a:xfrm>
          <a:prstGeom prst="rect">
            <a:avLst/>
          </a:prstGeom>
          <a:noFill/>
        </p:spPr>
        <p:txBody>
          <a:bodyPr wrap="square" lIns="0" tIns="0" rIns="0" bIns="0" anchor="t">
            <a:spAutoFit/>
          </a:bodyPr>
          <a:lstStyle/>
          <a:p>
            <a:pPr algn="l">
              <a:spcAft>
                <a:spcPts val="600"/>
              </a:spcAft>
            </a:pPr>
            <a:r>
              <a:rPr sz="1600" b="0">
                <a:solidFill>
                  <a:srgbClr val="707070"/>
                </a:solidFill>
                <a:latin typeface="Arial"/>
              </a:rPr>
              <a:t>For the last three rows: change the app, or tell the ethics committee.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We need about 60–70 participants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14</a:t>
            </a:r>
          </a:p>
        </p:txBody>
      </p:sp>
      <p:graphicFrame>
        <p:nvGraphicFramePr>
          <p:cNvPr id="6" name="Chart 5"/>
          <p:cNvGraphicFramePr>
            <a:graphicFrameLocks noGrp="1"/>
          </p:cNvGraphicFramePr>
          <p:nvPr/>
        </p:nvGraphicFramePr>
        <p:xfrm>
          <a:off x="640080" y="137160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863840" y="1463040"/>
            <a:ext cx="3657600" cy="4754880"/>
          </a:xfrm>
          <a:prstGeom prst="rect">
            <a:avLst/>
          </a:prstGeom>
          <a:noFill/>
        </p:spPr>
        <p:txBody>
          <a:bodyPr wrap="square" lIns="0" tIns="0" rIns="0" bIns="0" anchor="t">
            <a:spAutoFit/>
          </a:bodyPr>
          <a:lstStyle/>
          <a:p>
            <a:pPr algn="l">
              <a:spcAft>
                <a:spcPts val="1200"/>
              </a:spcAft>
            </a:pPr>
            <a:r>
              <a:rPr sz="1500" b="0">
                <a:solidFill>
                  <a:srgbClr val="222222"/>
                </a:solidFill>
                <a:latin typeface="Arial"/>
              </a:rPr>
              <a:t>We use all three ways of writing</a:t>
            </a:r>
          </a:p>
          <a:p>
            <a:pPr algn="l">
              <a:spcAft>
                <a:spcPts val="1200"/>
              </a:spcAft>
            </a:pPr>
            <a:r>
              <a:rPr sz="1500" b="0">
                <a:solidFill>
                  <a:srgbClr val="222222"/>
                </a:solidFill>
                <a:latin typeface="Arial"/>
              </a:rPr>
              <a:t>The line shows how likely the study finds a real difference between Two-Stage and Clinical Only (target: 80 %)</a:t>
            </a:r>
          </a:p>
          <a:p>
            <a:pPr algn="l">
              <a:spcAft>
                <a:spcPts val="1200"/>
              </a:spcAft>
            </a:pPr>
            <a:r>
              <a:rPr sz="1500" b="0">
                <a:solidFill>
                  <a:srgbClr val="222222"/>
                </a:solidFill>
                <a:latin typeface="Arial"/>
              </a:rPr>
              <a:t>40 participants: 63 %; about 60–70 participants reach 80 %</a:t>
            </a:r>
          </a:p>
          <a:p>
            <a:pPr algn="l">
              <a:spcAft>
                <a:spcPts val="1200"/>
              </a:spcAft>
            </a:pPr>
            <a:r>
              <a:rPr sz="1500" b="0">
                <a:solidFill>
                  <a:srgbClr val="222222"/>
                </a:solidFill>
                <a:latin typeface="Arial"/>
              </a:rPr>
              <a:t>Patients and doctors can be analysed together if the effect is similar in both groups; then nothing can be said about each group on its own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430887"/>
          </a:xfrm>
          <a:prstGeom prst="rect">
            <a:avLst/>
          </a:prstGeom>
          <a:noFill/>
        </p:spPr>
        <p:txBody>
          <a:bodyPr wrap="square" lIns="0" tIns="0" rIns="0" bIns="0" anchor="t">
            <a:spAutoFit/>
          </a:bodyPr>
          <a:lstStyle/>
          <a:p>
            <a:pPr algn="l">
              <a:spcAft>
                <a:spcPts val="600"/>
              </a:spcAft>
            </a:pPr>
            <a:r>
              <a:rPr sz="2800" b="1" dirty="0">
                <a:solidFill>
                  <a:srgbClr val="222222"/>
                </a:solidFill>
                <a:latin typeface="Arial"/>
              </a:rPr>
              <a:t>What is still needed before a run</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15</a:t>
            </a:r>
          </a:p>
        </p:txBody>
      </p:sp>
      <p:graphicFrame>
        <p:nvGraphicFramePr>
          <p:cNvPr id="6" name="Table 5"/>
          <p:cNvGraphicFramePr>
            <a:graphicFrameLocks noGrp="1"/>
          </p:cNvGraphicFramePr>
          <p:nvPr>
            <p:extLst>
              <p:ext uri="{D42A27DB-BD31-4B8C-83A1-F6EECF244321}">
                <p14:modId xmlns:p14="http://schemas.microsoft.com/office/powerpoint/2010/main" val="1915710664"/>
              </p:ext>
            </p:extLst>
          </p:nvPr>
        </p:nvGraphicFramePr>
        <p:xfrm>
          <a:off x="640080" y="1463040"/>
          <a:ext cx="6949440" cy="1828800"/>
        </p:xfrm>
        <a:graphic>
          <a:graphicData uri="http://schemas.openxmlformats.org/drawingml/2006/table">
            <a:tbl>
              <a:tblPr firstRow="1" bandRow="1">
                <a:tableStyleId>{5C22544A-7EE6-4342-B048-85BDC9FD1C3A}</a:tableStyleId>
              </a:tblPr>
              <a:tblGrid>
                <a:gridCol w="6949440">
                  <a:extLst>
                    <a:ext uri="{9D8B030D-6E8A-4147-A177-3AD203B41FA5}">
                      <a16:colId xmlns:a16="http://schemas.microsoft.com/office/drawing/2014/main" val="20000"/>
                    </a:ext>
                  </a:extLst>
                </a:gridCol>
              </a:tblGrid>
              <a:tr h="457200">
                <a:tc>
                  <a:txBody>
                    <a:bodyPr/>
                    <a:lstStyle/>
                    <a:p>
                      <a:r>
                        <a:rPr sz="1600" b="1">
                          <a:solidFill>
                            <a:srgbClr val="222222"/>
                          </a:solidFill>
                          <a:latin typeface="Arial"/>
                        </a:rPr>
                        <a:t>Task</a:t>
                      </a:r>
                    </a:p>
                  </a:txBody>
                  <a:tcPr>
                    <a:solidFill>
                      <a:srgbClr val="EEEEEE"/>
                    </a:solidFill>
                  </a:tcPr>
                </a:tc>
                <a:extLst>
                  <a:ext uri="{0D108BD9-81ED-4DB2-BD59-A6C34878D82A}">
                    <a16:rowId xmlns:a16="http://schemas.microsoft.com/office/drawing/2014/main" val="10000"/>
                  </a:ext>
                </a:extLst>
              </a:tr>
              <a:tr h="457200">
                <a:tc>
                  <a:txBody>
                    <a:bodyPr/>
                    <a:lstStyle/>
                    <a:p>
                      <a:r>
                        <a:rPr sz="1600" b="0">
                          <a:solidFill>
                            <a:srgbClr val="222222"/>
                          </a:solidFill>
                          <a:latin typeface="Arial"/>
                        </a:rPr>
                        <a:t>Check all 60 answers for medical correctness</a:t>
                      </a:r>
                      <a:r>
                        <a:rPr sz="1600">
                          <a:solidFill>
                            <a:srgbClr val="222222"/>
                          </a:solidFill>
                          <a:latin typeface="Arial"/>
                        </a:rPr>
                        <a:t> – Excel rating sheet ready (one per doctor, arm hidden)</a:t>
                      </a:r>
                    </a:p>
                  </a:txBody>
                  <a:tcPr>
                    <a:solidFill>
                      <a:srgbClr val="FFFFFF"/>
                    </a:solidFill>
                  </a:tcPr>
                </a:tc>
                <a:extLst>
                  <a:ext uri="{0D108BD9-81ED-4DB2-BD59-A6C34878D82A}">
                    <a16:rowId xmlns:a16="http://schemas.microsoft.com/office/drawing/2014/main" val="10001"/>
                  </a:ext>
                </a:extLst>
              </a:tr>
              <a:tr h="457200">
                <a:tc>
                  <a:txBody>
                    <a:bodyPr/>
                    <a:lstStyle/>
                    <a:p>
                      <a:r>
                        <a:rPr sz="1600" b="0" dirty="0">
                          <a:solidFill>
                            <a:srgbClr val="222222"/>
                          </a:solidFill>
                          <a:latin typeface="Arial"/>
                        </a:rPr>
                        <a:t>Check the facts on the final information sheet</a:t>
                      </a:r>
                    </a:p>
                  </a:txBody>
                  <a:tcPr>
                    <a:solidFill>
                      <a:srgbClr val="FFFFFF"/>
                    </a:solidFill>
                  </a:tcPr>
                </a:tc>
                <a:extLst>
                  <a:ext uri="{0D108BD9-81ED-4DB2-BD59-A6C34878D82A}">
                    <a16:rowId xmlns:a16="http://schemas.microsoft.com/office/drawing/2014/main" val="10002"/>
                  </a:ext>
                </a:extLst>
              </a:tr>
              <a:tr h="457200">
                <a:tc>
                  <a:txBody>
                    <a:bodyPr/>
                    <a:lstStyle/>
                    <a:p>
                      <a:r>
                        <a:rPr sz="1600" b="0" dirty="0">
                          <a:solidFill>
                            <a:srgbClr val="222222"/>
                          </a:solidFill>
                          <a:latin typeface="Arial"/>
                        </a:rPr>
                        <a:t>Test run with 3–5 patients and 1–2 doctors</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r>
              <a:rPr sz="2800" b="1">
                <a:solidFill>
                  <a:srgbClr val="222222"/>
                </a:solidFill>
                <a:latin typeface="Arial"/>
              </a:rPr>
              <a:t>Timeline: study start 16 November</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r>
              <a:rPr sz="1000" b="0">
                <a:solidFill>
                  <a:srgbClr val="707070"/>
                </a:solidFill>
                <a:latin typeface="Arial"/>
              </a:rPr>
              <a:t>16</a:t>
            </a:r>
          </a:p>
        </p:txBody>
      </p:sp>
      <p:sp>
        <p:nvSpPr>
          <p:cNvPr id="6" name="Rectangle 5"/>
          <p:cNvSpPr/>
          <p:nvPr/>
        </p:nvSpPr>
        <p:spPr>
          <a:xfrm>
            <a:off x="3657600" y="1691640"/>
            <a:ext cx="1310640" cy="4160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26.10.</a:t>
            </a:r>
          </a:p>
        </p:txBody>
      </p:sp>
      <p:sp>
        <p:nvSpPr>
          <p:cNvPr id="8" name="TextBox 7"/>
          <p:cNvSpPr txBox="1"/>
          <p:nvPr/>
        </p:nvSpPr>
        <p:spPr>
          <a:xfrm>
            <a:off x="496824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2.11.</a:t>
            </a:r>
          </a:p>
        </p:txBody>
      </p:sp>
      <p:sp>
        <p:nvSpPr>
          <p:cNvPr id="9" name="Rectangle 8"/>
          <p:cNvSpPr/>
          <p:nvPr/>
        </p:nvSpPr>
        <p:spPr>
          <a:xfrm>
            <a:off x="6278880" y="1691640"/>
            <a:ext cx="1310640" cy="4160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7888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9.11.</a:t>
            </a:r>
          </a:p>
        </p:txBody>
      </p:sp>
      <p:sp>
        <p:nvSpPr>
          <p:cNvPr id="11" name="TextBox 10"/>
          <p:cNvSpPr txBox="1"/>
          <p:nvPr/>
        </p:nvSpPr>
        <p:spPr>
          <a:xfrm>
            <a:off x="758952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16.11.</a:t>
            </a:r>
          </a:p>
        </p:txBody>
      </p:sp>
      <p:sp>
        <p:nvSpPr>
          <p:cNvPr id="12" name="Rectangle 11"/>
          <p:cNvSpPr/>
          <p:nvPr/>
        </p:nvSpPr>
        <p:spPr>
          <a:xfrm>
            <a:off x="8900160" y="1691640"/>
            <a:ext cx="1310640" cy="4160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0016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23.11.</a:t>
            </a:r>
          </a:p>
        </p:txBody>
      </p:sp>
      <p:sp>
        <p:nvSpPr>
          <p:cNvPr id="14" name="TextBox 13"/>
          <p:cNvSpPr txBox="1"/>
          <p:nvPr/>
        </p:nvSpPr>
        <p:spPr>
          <a:xfrm>
            <a:off x="10210800" y="1325880"/>
            <a:ext cx="1310640" cy="320040"/>
          </a:xfrm>
          <a:prstGeom prst="rect">
            <a:avLst/>
          </a:prstGeom>
          <a:noFill/>
        </p:spPr>
        <p:txBody>
          <a:bodyPr wrap="square" lIns="0" tIns="0" rIns="0" bIns="0" anchor="t">
            <a:spAutoFit/>
          </a:bodyPr>
          <a:lstStyle/>
          <a:p>
            <a:pPr algn="ctr"/>
            <a:r>
              <a:rPr sz="1200" b="0">
                <a:solidFill>
                  <a:srgbClr val="707070"/>
                </a:solidFill>
                <a:latin typeface="Arial"/>
              </a:rPr>
              <a:t>30.11.</a:t>
            </a:r>
          </a:p>
        </p:txBody>
      </p:sp>
      <p:sp>
        <p:nvSpPr>
          <p:cNvPr id="15" name="TextBox 14"/>
          <p:cNvSpPr txBox="1"/>
          <p:nvPr/>
        </p:nvSpPr>
        <p:spPr>
          <a:xfrm>
            <a:off x="640080" y="1783080"/>
            <a:ext cx="2926080" cy="530352"/>
          </a:xfrm>
          <a:prstGeom prst="rect">
            <a:avLst/>
          </a:prstGeom>
          <a:noFill/>
        </p:spPr>
        <p:txBody>
          <a:bodyPr wrap="square" lIns="0" tIns="0" rIns="0" bIns="0" anchor="ctr">
            <a:spAutoFit/>
          </a:bodyPr>
          <a:lstStyle/>
          <a:p>
            <a:pPr algn="l"/>
            <a:r>
              <a:rPr sz="1200" b="0">
                <a:solidFill>
                  <a:srgbClr val="222222"/>
                </a:solidFill>
                <a:latin typeface="Arial"/>
              </a:rPr>
              <a:t>Meeting: go / decisions</a:t>
            </a:r>
          </a:p>
        </p:txBody>
      </p:sp>
      <p:sp>
        <p:nvSpPr>
          <p:cNvPr id="16" name="Diamond 15"/>
          <p:cNvSpPr/>
          <p:nvPr/>
        </p:nvSpPr>
        <p:spPr>
          <a:xfrm>
            <a:off x="3988525" y="1911095"/>
            <a:ext cx="274320" cy="274320"/>
          </a:xfrm>
          <a:prstGeom prst="diamond">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54285" y="1856231"/>
            <a:ext cx="1371600" cy="384048"/>
          </a:xfrm>
          <a:prstGeom prst="rect">
            <a:avLst/>
          </a:prstGeom>
          <a:noFill/>
        </p:spPr>
        <p:txBody>
          <a:bodyPr wrap="square" lIns="0" tIns="0" rIns="0" bIns="0" anchor="ctr">
            <a:spAutoFit/>
          </a:bodyPr>
          <a:lstStyle/>
          <a:p>
            <a:pPr algn="l"/>
            <a:r>
              <a:rPr sz="1200" b="0">
                <a:solidFill>
                  <a:srgbClr val="707070"/>
                </a:solidFill>
                <a:latin typeface="Arial"/>
              </a:rPr>
              <a:t>28.10.</a:t>
            </a:r>
          </a:p>
        </p:txBody>
      </p:sp>
      <p:sp>
        <p:nvSpPr>
          <p:cNvPr id="18" name="TextBox 17"/>
          <p:cNvSpPr txBox="1"/>
          <p:nvPr/>
        </p:nvSpPr>
        <p:spPr>
          <a:xfrm>
            <a:off x="640080" y="2368296"/>
            <a:ext cx="2926080" cy="530352"/>
          </a:xfrm>
          <a:prstGeom prst="rect">
            <a:avLst/>
          </a:prstGeom>
          <a:noFill/>
        </p:spPr>
        <p:txBody>
          <a:bodyPr wrap="square" lIns="0" tIns="0" rIns="0" bIns="0" anchor="ctr">
            <a:spAutoFit/>
          </a:bodyPr>
          <a:lstStyle/>
          <a:p>
            <a:pPr algn="l"/>
            <a:r>
              <a:rPr sz="1200" b="0">
                <a:solidFill>
                  <a:srgbClr val="222222"/>
                </a:solidFill>
                <a:latin typeface="Arial"/>
              </a:rPr>
              <a:t>Medical check of the 60 answers and the information sheet</a:t>
            </a:r>
          </a:p>
        </p:txBody>
      </p:sp>
      <p:sp>
        <p:nvSpPr>
          <p:cNvPr id="19" name="Rectangle 18"/>
          <p:cNvSpPr/>
          <p:nvPr/>
        </p:nvSpPr>
        <p:spPr>
          <a:xfrm>
            <a:off x="4219302" y="2505456"/>
            <a:ext cx="1685108" cy="256032"/>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19302" y="2779776"/>
            <a:ext cx="2926080" cy="201168"/>
          </a:xfrm>
          <a:prstGeom prst="rect">
            <a:avLst/>
          </a:prstGeom>
          <a:noFill/>
        </p:spPr>
        <p:txBody>
          <a:bodyPr wrap="square" lIns="0" tIns="0" rIns="0" bIns="0" anchor="t">
            <a:spAutoFit/>
          </a:bodyPr>
          <a:lstStyle/>
          <a:p>
            <a:pPr algn="l"/>
            <a:r>
              <a:rPr sz="1000" b="0">
                <a:solidFill>
                  <a:srgbClr val="707070"/>
                </a:solidFill>
                <a:latin typeface="Arial"/>
              </a:rPr>
              <a:t>2 doctors, Excel sheets</a:t>
            </a:r>
          </a:p>
        </p:txBody>
      </p:sp>
      <p:sp>
        <p:nvSpPr>
          <p:cNvPr id="21" name="TextBox 20"/>
          <p:cNvSpPr txBox="1"/>
          <p:nvPr/>
        </p:nvSpPr>
        <p:spPr>
          <a:xfrm>
            <a:off x="640080" y="2953512"/>
            <a:ext cx="2926080" cy="530352"/>
          </a:xfrm>
          <a:prstGeom prst="rect">
            <a:avLst/>
          </a:prstGeom>
          <a:noFill/>
        </p:spPr>
        <p:txBody>
          <a:bodyPr wrap="square" lIns="0" tIns="0" rIns="0" bIns="0" anchor="ctr">
            <a:spAutoFit/>
          </a:bodyPr>
          <a:lstStyle/>
          <a:p>
            <a:pPr algn="l"/>
            <a:r>
              <a:rPr sz="1200" b="0">
                <a:solidFill>
                  <a:srgbClr val="222222"/>
                </a:solidFill>
                <a:latin typeface="Arial"/>
              </a:rPr>
              <a:t>Remove harmful questions; app final; inform clinic and data protection</a:t>
            </a:r>
          </a:p>
        </p:txBody>
      </p:sp>
      <p:sp>
        <p:nvSpPr>
          <p:cNvPr id="22" name="Rectangle 21"/>
          <p:cNvSpPr/>
          <p:nvPr/>
        </p:nvSpPr>
        <p:spPr>
          <a:xfrm>
            <a:off x="6278880" y="3090672"/>
            <a:ext cx="561702" cy="256032"/>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538728"/>
            <a:ext cx="2926080" cy="530352"/>
          </a:xfrm>
          <a:prstGeom prst="rect">
            <a:avLst/>
          </a:prstGeom>
          <a:noFill/>
        </p:spPr>
        <p:txBody>
          <a:bodyPr wrap="square" lIns="0" tIns="0" rIns="0" bIns="0" anchor="ctr">
            <a:spAutoFit/>
          </a:bodyPr>
          <a:lstStyle/>
          <a:p>
            <a:pPr algn="l"/>
            <a:r>
              <a:rPr sz="1200" b="0">
                <a:solidFill>
                  <a:srgbClr val="222222"/>
                </a:solidFill>
                <a:latin typeface="Arial"/>
              </a:rPr>
              <a:t>Test run with colleagues; print flyer and poster</a:t>
            </a:r>
          </a:p>
        </p:txBody>
      </p:sp>
      <p:sp>
        <p:nvSpPr>
          <p:cNvPr id="24" name="Rectangle 23"/>
          <p:cNvSpPr/>
          <p:nvPr/>
        </p:nvSpPr>
        <p:spPr>
          <a:xfrm>
            <a:off x="6278880" y="3675888"/>
            <a:ext cx="936171" cy="256032"/>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8880" y="3950208"/>
            <a:ext cx="2926080" cy="201168"/>
          </a:xfrm>
          <a:prstGeom prst="rect">
            <a:avLst/>
          </a:prstGeom>
          <a:noFill/>
        </p:spPr>
        <p:txBody>
          <a:bodyPr wrap="square" lIns="0" tIns="0" rIns="0" bIns="0" anchor="t">
            <a:spAutoFit/>
          </a:bodyPr>
          <a:lstStyle/>
          <a:p>
            <a:pPr algn="l"/>
            <a:r>
              <a:rPr sz="1000" b="0">
                <a:solidFill>
                  <a:srgbClr val="707070"/>
                </a:solidFill>
                <a:latin typeface="Arial"/>
              </a:rPr>
              <a:t>incl. 1–2 non-medical people; test data deleted</a:t>
            </a:r>
          </a:p>
        </p:txBody>
      </p:sp>
      <p:sp>
        <p:nvSpPr>
          <p:cNvPr id="26" name="TextBox 25"/>
          <p:cNvSpPr txBox="1"/>
          <p:nvPr/>
        </p:nvSpPr>
        <p:spPr>
          <a:xfrm>
            <a:off x="640080" y="4123944"/>
            <a:ext cx="2926080" cy="530352"/>
          </a:xfrm>
          <a:prstGeom prst="rect">
            <a:avLst/>
          </a:prstGeom>
          <a:noFill/>
        </p:spPr>
        <p:txBody>
          <a:bodyPr wrap="square" lIns="0" tIns="0" rIns="0" bIns="0" anchor="ctr">
            <a:spAutoFit/>
          </a:bodyPr>
          <a:lstStyle/>
          <a:p>
            <a:pPr algn="l"/>
            <a:r>
              <a:rPr sz="1200" b="0">
                <a:solidFill>
                  <a:srgbClr val="222222"/>
                </a:solidFill>
                <a:latin typeface="Arial"/>
              </a:rPr>
              <a:t>Study start</a:t>
            </a:r>
          </a:p>
        </p:txBody>
      </p:sp>
      <p:sp>
        <p:nvSpPr>
          <p:cNvPr id="27" name="Diamond 26"/>
          <p:cNvSpPr/>
          <p:nvPr/>
        </p:nvSpPr>
        <p:spPr>
          <a:xfrm>
            <a:off x="7545977" y="4251959"/>
            <a:ext cx="274320" cy="274320"/>
          </a:xfrm>
          <a:prstGeom prst="diamond">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11737" y="4197096"/>
            <a:ext cx="1371600" cy="384048"/>
          </a:xfrm>
          <a:prstGeom prst="rect">
            <a:avLst/>
          </a:prstGeom>
          <a:noFill/>
        </p:spPr>
        <p:txBody>
          <a:bodyPr wrap="square" lIns="0" tIns="0" rIns="0" bIns="0" anchor="ctr">
            <a:spAutoFit/>
          </a:bodyPr>
          <a:lstStyle/>
          <a:p>
            <a:pPr algn="l"/>
            <a:r>
              <a:rPr sz="1200" b="0">
                <a:solidFill>
                  <a:srgbClr val="707070"/>
                </a:solidFill>
                <a:latin typeface="Arial"/>
              </a:rPr>
              <a:t>16.11.</a:t>
            </a:r>
          </a:p>
        </p:txBody>
      </p:sp>
      <p:sp>
        <p:nvSpPr>
          <p:cNvPr id="29" name="TextBox 28"/>
          <p:cNvSpPr txBox="1"/>
          <p:nvPr/>
        </p:nvSpPr>
        <p:spPr>
          <a:xfrm>
            <a:off x="640080" y="4709159"/>
            <a:ext cx="2926080" cy="530352"/>
          </a:xfrm>
          <a:prstGeom prst="rect">
            <a:avLst/>
          </a:prstGeom>
          <a:noFill/>
        </p:spPr>
        <p:txBody>
          <a:bodyPr wrap="square" lIns="0" tIns="0" rIns="0" bIns="0" anchor="ctr">
            <a:spAutoFit/>
          </a:bodyPr>
          <a:lstStyle/>
          <a:p>
            <a:pPr algn="l"/>
            <a:r>
              <a:rPr sz="1200" b="0">
                <a:solidFill>
                  <a:srgbClr val="222222"/>
                </a:solidFill>
                <a:latin typeface="Arial"/>
              </a:rPr>
              <a:t>First week: follow the first participants closely</a:t>
            </a:r>
          </a:p>
        </p:txBody>
      </p:sp>
      <p:sp>
        <p:nvSpPr>
          <p:cNvPr id="30" name="Rectangle 29"/>
          <p:cNvSpPr/>
          <p:nvPr/>
        </p:nvSpPr>
        <p:spPr>
          <a:xfrm>
            <a:off x="7589520" y="4846320"/>
            <a:ext cx="1497874" cy="256032"/>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294375"/>
            <a:ext cx="2926080" cy="530352"/>
          </a:xfrm>
          <a:prstGeom prst="rect">
            <a:avLst/>
          </a:prstGeom>
          <a:noFill/>
        </p:spPr>
        <p:txBody>
          <a:bodyPr wrap="square" lIns="0" tIns="0" rIns="0" bIns="0" anchor="ctr">
            <a:spAutoFit/>
          </a:bodyPr>
          <a:lstStyle/>
          <a:p>
            <a:pPr algn="l"/>
            <a:r>
              <a:rPr sz="1200" b="0">
                <a:solidFill>
                  <a:srgbClr val="222222"/>
                </a:solidFill>
                <a:latin typeface="Arial"/>
              </a:rPr>
              <a:t>Holiday (deputy: contact e-mail and data check)</a:t>
            </a:r>
          </a:p>
        </p:txBody>
      </p:sp>
      <p:sp>
        <p:nvSpPr>
          <p:cNvPr id="32" name="Rectangle 31"/>
          <p:cNvSpPr/>
          <p:nvPr/>
        </p:nvSpPr>
        <p:spPr>
          <a:xfrm>
            <a:off x="9087394" y="5431536"/>
            <a:ext cx="2434045" cy="2560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897880"/>
            <a:ext cx="10881360" cy="365760"/>
          </a:xfrm>
          <a:prstGeom prst="rect">
            <a:avLst/>
          </a:prstGeom>
          <a:noFill/>
        </p:spPr>
        <p:txBody>
          <a:bodyPr wrap="square" lIns="0" tIns="0" rIns="0" bIns="0" anchor="t">
            <a:spAutoFit/>
          </a:bodyPr>
          <a:lstStyle/>
          <a:p>
            <a:pPr algn="l"/>
            <a:r>
              <a:rPr sz="1200" b="0">
                <a:solidFill>
                  <a:srgbClr val="707070"/>
                </a:solidFill>
                <a:latin typeface="Arial"/>
              </a:rPr>
              <a:t>Critical path: the medical check must be done by 6 November. Before the holiday: a deputy for the contact e-mail and for checking that data arrive.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731520"/>
          </a:xfrm>
          <a:prstGeom prst="rect">
            <a:avLst/>
          </a:prstGeom>
          <a:noFill/>
        </p:spPr>
        <p:txBody>
          <a:bodyPr wrap="square" lIns="0" rIns="0" tIns="0" bIns="0">
            <a:spAutoFit/>
          </a:bodyPr>
          <a:lstStyle/>
          <a:p>
            <a:pPr algn="l">
              <a:spcAft>
                <a:spcPts val="600"/>
              </a:spcAft>
            </a:pPr>
            <a:r>
              <a:rPr sz="2800" b="1">
                <a:solidFill>
                  <a:srgbClr val="222222"/>
                </a:solidFill>
                <a:latin typeface="Arial"/>
              </a:rPr>
              <a:t>If we only get 20–30 patients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rIns="0" tIns="0" bIns="0">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rIns="0" tIns="0" bIns="0">
            <a:spAutoFit/>
          </a:bodyPr>
          <a:lstStyle/>
          <a:p>
            <a:pPr algn="r">
              <a:spcAft>
                <a:spcPts val="600"/>
              </a:spcAft>
            </a:pPr>
            <a:r>
              <a:rPr sz="1000" b="0">
                <a:solidFill>
                  <a:srgbClr val="707070"/>
                </a:solidFill>
                <a:latin typeface="Arial"/>
              </a:rPr>
              <a:t>17</a:t>
            </a:r>
          </a:p>
        </p:txBody>
      </p:sp>
      <p:sp>
        <p:nvSpPr>
          <p:cNvPr id="6" name="TextBox 5"/>
          <p:cNvSpPr txBox="1"/>
          <p:nvPr/>
        </p:nvSpPr>
        <p:spPr>
          <a:xfrm>
            <a:off x="640080" y="1417320"/>
            <a:ext cx="5120640" cy="365760"/>
          </a:xfrm>
          <a:prstGeom prst="rect">
            <a:avLst/>
          </a:prstGeom>
          <a:noFill/>
        </p:spPr>
        <p:txBody>
          <a:bodyPr wrap="square" lIns="0" rIns="0" tIns="0" bIns="0">
            <a:spAutoFit/>
          </a:bodyPr>
          <a:lstStyle/>
          <a:p>
            <a:pPr algn="l">
              <a:spcAft>
                <a:spcPts val="600"/>
              </a:spcAft>
            </a:pPr>
            <a:r>
              <a:rPr sz="1500" b="1">
                <a:solidFill>
                  <a:srgbClr val="222222"/>
                </a:solidFill>
                <a:latin typeface="Arial"/>
              </a:rPr>
              <a:t>Chance to find a real difference (target 80 %)</a:t>
            </a:r>
          </a:p>
        </p:txBody>
      </p:sp>
      <p:graphicFrame>
        <p:nvGraphicFramePr>
          <p:cNvPr id="7" name="Table 6"/>
          <p:cNvGraphicFramePr>
            <a:graphicFrameLocks noGrp="1"/>
          </p:cNvGraphicFramePr>
          <p:nvPr/>
        </p:nvGraphicFramePr>
        <p:xfrm>
          <a:off x="640080" y="1874519"/>
          <a:ext cx="5120640" cy="2057400"/>
        </p:xfrm>
        <a:graphic>
          <a:graphicData uri="http://schemas.openxmlformats.org/drawingml/2006/table">
            <a:tbl>
              <a:tblPr firstRow="1" bandRow="1">
                <a:tableStyleId>{5C22544A-7EE6-4342-B048-85BDC9FD1C3A}</a:tableStyleId>
              </a:tblPr>
              <a:tblGrid>
                <a:gridCol w="1097280"/>
                <a:gridCol w="1645920"/>
                <a:gridCol w="1188720"/>
                <a:gridCol w="1188720"/>
              </a:tblGrid>
              <a:tr h="411480">
                <a:tc>
                  <a:txBody>
                    <a:bodyPr/>
                    <a:lstStyle/>
                    <a:p>
                      <a:r>
                        <a:rPr sz="1400" b="1">
                          <a:solidFill>
                            <a:srgbClr val="222222"/>
                          </a:solidFill>
                          <a:latin typeface="Arial"/>
                        </a:rPr>
                        <a:t>Patients</a:t>
                      </a:r>
                    </a:p>
                  </a:txBody>
                  <a:tcPr>
                    <a:solidFill>
                      <a:srgbClr val="EEEEEE"/>
                    </a:solidFill>
                  </a:tcPr>
                </a:tc>
                <a:tc>
                  <a:txBody>
                    <a:bodyPr/>
                    <a:lstStyle/>
                    <a:p>
                      <a:r>
                        <a:rPr sz="1400" b="1">
                          <a:solidFill>
                            <a:srgbClr val="222222"/>
                          </a:solidFill>
                          <a:latin typeface="Arial"/>
                        </a:rPr>
                        <a:t>Answers per person</a:t>
                      </a:r>
                    </a:p>
                  </a:txBody>
                  <a:tcPr>
                    <a:solidFill>
                      <a:srgbClr val="EEEEEE"/>
                    </a:solidFill>
                  </a:tcPr>
                </a:tc>
                <a:tc>
                  <a:txBody>
                    <a:bodyPr/>
                    <a:lstStyle/>
                    <a:p>
                      <a:r>
                        <a:rPr sz="1400" b="1">
                          <a:solidFill>
                            <a:srgbClr val="222222"/>
                          </a:solidFill>
                          <a:latin typeface="Arial"/>
                        </a:rPr>
                        <a:t>+15 points</a:t>
                      </a:r>
                    </a:p>
                  </a:txBody>
                  <a:tcPr>
                    <a:solidFill>
                      <a:srgbClr val="EEEEEE"/>
                    </a:solidFill>
                  </a:tcPr>
                </a:tc>
                <a:tc>
                  <a:txBody>
                    <a:bodyPr/>
                    <a:lstStyle/>
                    <a:p>
                      <a:r>
                        <a:rPr sz="1400" b="1">
                          <a:solidFill>
                            <a:srgbClr val="222222"/>
                          </a:solidFill>
                          <a:latin typeface="Arial"/>
                        </a:rPr>
                        <a:t>+20 points</a:t>
                      </a:r>
                    </a:p>
                  </a:txBody>
                  <a:tcPr>
                    <a:solidFill>
                      <a:srgbClr val="EEEEEE"/>
                    </a:solidFill>
                  </a:tcPr>
                </a:tc>
              </a:tr>
              <a:tr h="411480">
                <a:tc>
                  <a:txBody>
                    <a:bodyPr/>
                    <a:lstStyle/>
                    <a:p>
                      <a:r>
                        <a:rPr sz="1400" b="0">
                          <a:solidFill>
                            <a:srgbClr val="222222"/>
                          </a:solidFill>
                          <a:latin typeface="Arial"/>
                        </a:rPr>
                        <a:t>20</a:t>
                      </a:r>
                    </a:p>
                  </a:txBody>
                  <a:tcPr>
                    <a:solidFill>
                      <a:srgbClr val="FFFFFF"/>
                    </a:solidFill>
                  </a:tcPr>
                </a:tc>
                <a:tc>
                  <a:txBody>
                    <a:bodyPr/>
                    <a:lstStyle/>
                    <a:p>
                      <a:r>
                        <a:rPr sz="1400" b="0">
                          <a:solidFill>
                            <a:srgbClr val="222222"/>
                          </a:solidFill>
                          <a:latin typeface="Arial"/>
                        </a:rPr>
                        <a:t>10</a:t>
                      </a:r>
                    </a:p>
                  </a:txBody>
                  <a:tcPr>
                    <a:solidFill>
                      <a:srgbClr val="FFFFFF"/>
                    </a:solidFill>
                  </a:tcPr>
                </a:tc>
                <a:tc>
                  <a:txBody>
                    <a:bodyPr/>
                    <a:lstStyle/>
                    <a:p>
                      <a:r>
                        <a:rPr sz="1400" b="0">
                          <a:solidFill>
                            <a:srgbClr val="222222"/>
                          </a:solidFill>
                          <a:latin typeface="Arial"/>
                        </a:rPr>
                        <a:t>36 %</a:t>
                      </a:r>
                    </a:p>
                  </a:txBody>
                  <a:tcPr>
                    <a:solidFill>
                      <a:srgbClr val="FFFFFF"/>
                    </a:solidFill>
                  </a:tcPr>
                </a:tc>
                <a:tc>
                  <a:txBody>
                    <a:bodyPr/>
                    <a:lstStyle/>
                    <a:p>
                      <a:r>
                        <a:rPr sz="1400" b="0">
                          <a:solidFill>
                            <a:srgbClr val="222222"/>
                          </a:solidFill>
                          <a:latin typeface="Arial"/>
                        </a:rPr>
                        <a:t>60 %</a:t>
                      </a:r>
                    </a:p>
                  </a:txBody>
                  <a:tcPr>
                    <a:solidFill>
                      <a:srgbClr val="FFFFFF"/>
                    </a:solidFill>
                  </a:tcPr>
                </a:tc>
              </a:tr>
              <a:tr h="411480">
                <a:tc>
                  <a:txBody>
                    <a:bodyPr/>
                    <a:lstStyle/>
                    <a:p>
                      <a:r>
                        <a:rPr sz="1400" b="0">
                          <a:solidFill>
                            <a:srgbClr val="222222"/>
                          </a:solidFill>
                          <a:latin typeface="Arial"/>
                        </a:rPr>
                        <a:t>30</a:t>
                      </a:r>
                    </a:p>
                  </a:txBody>
                  <a:tcPr>
                    <a:solidFill>
                      <a:srgbClr val="FFFFFF"/>
                    </a:solidFill>
                  </a:tcPr>
                </a:tc>
                <a:tc>
                  <a:txBody>
                    <a:bodyPr/>
                    <a:lstStyle/>
                    <a:p>
                      <a:r>
                        <a:rPr sz="1400" b="0">
                          <a:solidFill>
                            <a:srgbClr val="222222"/>
                          </a:solidFill>
                          <a:latin typeface="Arial"/>
                        </a:rPr>
                        <a:t>10</a:t>
                      </a:r>
                    </a:p>
                  </a:txBody>
                  <a:tcPr>
                    <a:solidFill>
                      <a:srgbClr val="FFFFFF"/>
                    </a:solidFill>
                  </a:tcPr>
                </a:tc>
                <a:tc>
                  <a:txBody>
                    <a:bodyPr/>
                    <a:lstStyle/>
                    <a:p>
                      <a:r>
                        <a:rPr sz="1400" b="0">
                          <a:solidFill>
                            <a:srgbClr val="222222"/>
                          </a:solidFill>
                          <a:latin typeface="Arial"/>
                        </a:rPr>
                        <a:t>52 %</a:t>
                      </a:r>
                    </a:p>
                  </a:txBody>
                  <a:tcPr>
                    <a:solidFill>
                      <a:srgbClr val="FFFFFF"/>
                    </a:solidFill>
                  </a:tcPr>
                </a:tc>
                <a:tc>
                  <a:txBody>
                    <a:bodyPr/>
                    <a:lstStyle/>
                    <a:p>
                      <a:r>
                        <a:rPr sz="1400" b="0">
                          <a:solidFill>
                            <a:srgbClr val="222222"/>
                          </a:solidFill>
                          <a:latin typeface="Arial"/>
                        </a:rPr>
                        <a:t>70 %</a:t>
                      </a:r>
                    </a:p>
                  </a:txBody>
                  <a:tcPr>
                    <a:solidFill>
                      <a:srgbClr val="FFFFFF"/>
                    </a:solidFill>
                  </a:tcPr>
                </a:tc>
              </a:tr>
              <a:tr h="411480">
                <a:tc>
                  <a:txBody>
                    <a:bodyPr/>
                    <a:lstStyle/>
                    <a:p>
                      <a:r>
                        <a:rPr sz="1400" b="0">
                          <a:solidFill>
                            <a:srgbClr val="222222"/>
                          </a:solidFill>
                          <a:latin typeface="Arial"/>
                        </a:rPr>
                        <a:t>20</a:t>
                      </a:r>
                    </a:p>
                  </a:txBody>
                  <a:tcPr>
                    <a:solidFill>
                      <a:srgbClr val="FFFFFF"/>
                    </a:solidFill>
                  </a:tcPr>
                </a:tc>
                <a:tc>
                  <a:txBody>
                    <a:bodyPr/>
                    <a:lstStyle/>
                    <a:p>
                      <a:r>
                        <a:rPr sz="1400" b="0">
                          <a:solidFill>
                            <a:srgbClr val="222222"/>
                          </a:solidFill>
                          <a:latin typeface="Arial"/>
                        </a:rPr>
                        <a:t>20</a:t>
                      </a:r>
                    </a:p>
                  </a:txBody>
                  <a:tcPr>
                    <a:solidFill>
                      <a:srgbClr val="FFFFFF"/>
                    </a:solidFill>
                  </a:tcPr>
                </a:tc>
                <a:tc>
                  <a:txBody>
                    <a:bodyPr/>
                    <a:lstStyle/>
                    <a:p>
                      <a:r>
                        <a:rPr sz="1400" b="0">
                          <a:solidFill>
                            <a:srgbClr val="222222"/>
                          </a:solidFill>
                          <a:latin typeface="Arial"/>
                        </a:rPr>
                        <a:t>61 %</a:t>
                      </a:r>
                    </a:p>
                  </a:txBody>
                  <a:tcPr>
                    <a:solidFill>
                      <a:srgbClr val="FFFFFF"/>
                    </a:solidFill>
                  </a:tcPr>
                </a:tc>
                <a:tc>
                  <a:txBody>
                    <a:bodyPr/>
                    <a:lstStyle/>
                    <a:p>
                      <a:r>
                        <a:rPr sz="1400" b="0">
                          <a:solidFill>
                            <a:srgbClr val="222222"/>
                          </a:solidFill>
                          <a:latin typeface="Arial"/>
                        </a:rPr>
                        <a:t>84 %</a:t>
                      </a:r>
                    </a:p>
                  </a:txBody>
                  <a:tcPr>
                    <a:solidFill>
                      <a:srgbClr val="FFFFFF"/>
                    </a:solidFill>
                  </a:tcPr>
                </a:tc>
              </a:tr>
              <a:tr h="411480">
                <a:tc>
                  <a:txBody>
                    <a:bodyPr/>
                    <a:lstStyle/>
                    <a:p>
                      <a:r>
                        <a:rPr sz="1400" b="0">
                          <a:solidFill>
                            <a:srgbClr val="222222"/>
                          </a:solidFill>
                          <a:latin typeface="Arial"/>
                        </a:rPr>
                        <a:t>30</a:t>
                      </a:r>
                    </a:p>
                  </a:txBody>
                  <a:tcPr>
                    <a:solidFill>
                      <a:srgbClr val="FFFFFF"/>
                    </a:solidFill>
                  </a:tcPr>
                </a:tc>
                <a:tc>
                  <a:txBody>
                    <a:bodyPr/>
                    <a:lstStyle/>
                    <a:p>
                      <a:r>
                        <a:rPr sz="1400" b="0">
                          <a:solidFill>
                            <a:srgbClr val="222222"/>
                          </a:solidFill>
                          <a:latin typeface="Arial"/>
                        </a:rPr>
                        <a:t>20</a:t>
                      </a:r>
                    </a:p>
                  </a:txBody>
                  <a:tcPr>
                    <a:solidFill>
                      <a:srgbClr val="FFFFFF"/>
                    </a:solidFill>
                  </a:tcPr>
                </a:tc>
                <a:tc>
                  <a:txBody>
                    <a:bodyPr/>
                    <a:lstStyle/>
                    <a:p>
                      <a:r>
                        <a:rPr sz="1400" b="0">
                          <a:solidFill>
                            <a:srgbClr val="222222"/>
                          </a:solidFill>
                          <a:latin typeface="Arial"/>
                        </a:rPr>
                        <a:t>76 %</a:t>
                      </a:r>
                    </a:p>
                  </a:txBody>
                  <a:tcPr>
                    <a:solidFill>
                      <a:srgbClr val="FFFFFF"/>
                    </a:solidFill>
                  </a:tcPr>
                </a:tc>
                <a:tc>
                  <a:txBody>
                    <a:bodyPr/>
                    <a:lstStyle/>
                    <a:p>
                      <a:r>
                        <a:rPr sz="1400" b="0">
                          <a:solidFill>
                            <a:srgbClr val="222222"/>
                          </a:solidFill>
                          <a:latin typeface="Arial"/>
                        </a:rPr>
                        <a:t>96 %</a:t>
                      </a:r>
                    </a:p>
                  </a:txBody>
                  <a:tcPr>
                    <a:solidFill>
                      <a:srgbClr val="FFFFFF"/>
                    </a:solidFill>
                  </a:tcPr>
                </a:tc>
              </a:tr>
            </a:tbl>
          </a:graphicData>
        </a:graphic>
      </p:graphicFrame>
      <p:sp>
        <p:nvSpPr>
          <p:cNvPr id="8" name="TextBox 7"/>
          <p:cNvSpPr txBox="1"/>
          <p:nvPr/>
        </p:nvSpPr>
        <p:spPr>
          <a:xfrm>
            <a:off x="640080" y="4069080"/>
            <a:ext cx="5120640" cy="822960"/>
          </a:xfrm>
          <a:prstGeom prst="rect">
            <a:avLst/>
          </a:prstGeom>
          <a:noFill/>
        </p:spPr>
        <p:txBody>
          <a:bodyPr wrap="square" lIns="0" rIns="0" tIns="0" bIns="0">
            <a:spAutoFit/>
          </a:bodyPr>
          <a:lstStyle/>
          <a:p>
            <a:pPr algn="l">
              <a:spcAft>
                <a:spcPts val="600"/>
              </a:spcAft>
            </a:pPr>
            <a:r>
              <a:rPr sz="1200" b="0">
                <a:solidFill>
                  <a:srgbClr val="707070"/>
                </a:solidFill>
                <a:latin typeface="Arial"/>
              </a:rPr>
              <a:t>Three ways of writing; difference between Two-Stage and Clinical Only in how often patients choose “clear and reassuring”.</a:t>
            </a:r>
          </a:p>
        </p:txBody>
      </p:sp>
      <p:sp>
        <p:nvSpPr>
          <p:cNvPr id="9" name="TextBox 8"/>
          <p:cNvSpPr txBox="1"/>
          <p:nvPr/>
        </p:nvSpPr>
        <p:spPr>
          <a:xfrm>
            <a:off x="6309360" y="1417320"/>
            <a:ext cx="5212080" cy="365760"/>
          </a:xfrm>
          <a:prstGeom prst="rect">
            <a:avLst/>
          </a:prstGeom>
          <a:noFill/>
        </p:spPr>
        <p:txBody>
          <a:bodyPr wrap="square" lIns="0" rIns="0" tIns="0" bIns="0">
            <a:spAutoFit/>
          </a:bodyPr>
          <a:lstStyle/>
          <a:p>
            <a:pPr algn="l">
              <a:spcAft>
                <a:spcPts val="600"/>
              </a:spcAft>
            </a:pPr>
            <a:r>
              <a:rPr sz="1500" b="1">
                <a:solidFill>
                  <a:srgbClr val="222222"/>
                </a:solidFill>
                <a:latin typeface="Arial"/>
              </a:rPr>
              <a:t>Options</a:t>
            </a:r>
          </a:p>
        </p:txBody>
      </p:sp>
      <p:sp>
        <p:nvSpPr>
          <p:cNvPr id="10" name="TextBox 9"/>
          <p:cNvSpPr txBox="1"/>
          <p:nvPr/>
        </p:nvSpPr>
        <p:spPr>
          <a:xfrm>
            <a:off x="6309360" y="1874519"/>
            <a:ext cx="5212080" cy="3931920"/>
          </a:xfrm>
          <a:prstGeom prst="rect">
            <a:avLst/>
          </a:prstGeom>
          <a:noFill/>
        </p:spPr>
        <p:txBody>
          <a:bodyPr wrap="square" lIns="0" rIns="0" tIns="0" bIns="0">
            <a:spAutoFit/>
          </a:bodyPr>
          <a:lstStyle/>
          <a:p>
            <a:pPr algn="l">
              <a:spcAft>
                <a:spcPts val="1200"/>
              </a:spcAft>
            </a:pPr>
            <a:r>
              <a:rPr sz="1400" b="1">
                <a:solidFill>
                  <a:srgbClr val="222222"/>
                </a:solidFill>
                <a:latin typeface="Arial"/>
              </a:rPr>
              <a:t>1. Report it as a pilot study: </a:t>
            </a:r>
            <a:r>
              <a:rPr sz="1400" b="0">
                <a:solidFill>
                  <a:srgbClr val="222222"/>
                </a:solidFill>
                <a:latin typeface="Arial"/>
              </a:rPr>
              <a:t>show the differences with confidence intervals, without claiming proof</a:t>
            </a:r>
          </a:p>
          <a:p>
            <a:pPr algn="l">
              <a:spcAft>
                <a:spcPts val="1200"/>
              </a:spcAft>
            </a:pPr>
            <a:r>
              <a:rPr sz="1400" b="1">
                <a:solidFill>
                  <a:srgbClr val="222222"/>
                </a:solidFill>
                <a:latin typeface="Arial"/>
              </a:rPr>
              <a:t>2. Analyse patients and doctors together: </a:t>
            </a:r>
            <a:r>
              <a:rPr sz="1400" b="0">
                <a:solidFill>
                  <a:srgbClr val="222222"/>
                </a:solidFill>
                <a:latin typeface="Arial"/>
              </a:rPr>
              <a:t>20–30 of each count like 40–60 participants – decide this before the study</a:t>
            </a:r>
          </a:p>
          <a:p>
            <a:pPr algn="l">
              <a:spcAft>
                <a:spcPts val="1200"/>
              </a:spcAft>
            </a:pPr>
            <a:r>
              <a:rPr sz="1400" b="1">
                <a:solidFill>
                  <a:srgbClr val="222222"/>
                </a:solidFill>
                <a:latin typeface="Arial"/>
              </a:rPr>
              <a:t>3. 20 answers per person: </a:t>
            </a:r>
            <a:r>
              <a:rPr sz="1400" b="0">
                <a:solidFill>
                  <a:srgbClr val="222222"/>
                </a:solidFill>
                <a:latin typeface="Arial"/>
              </a:rPr>
              <a:t>much more power, but 20–30 minutes instead of 10–15</a:t>
            </a:r>
          </a:p>
          <a:p>
            <a:pPr algn="l">
              <a:spcAft>
                <a:spcPts val="1200"/>
              </a:spcAft>
            </a:pPr>
            <a:r>
              <a:rPr sz="1400" b="1">
                <a:solidFill>
                  <a:srgbClr val="222222"/>
                </a:solidFill>
                <a:latin typeface="Arial"/>
              </a:rPr>
              <a:t>4. Recruit longer or add Munich: </a:t>
            </a:r>
            <a:r>
              <a:rPr sz="1400" b="0">
                <a:solidFill>
                  <a:srgbClr val="222222"/>
                </a:solidFill>
                <a:latin typeface="Arial"/>
              </a:rPr>
              <a:t>more patients, later results</a:t>
            </a:r>
          </a:p>
        </p:txBody>
      </p:sp>
      <p:sp>
        <p:nvSpPr>
          <p:cNvPr id="11" name="TextBox 10"/>
          <p:cNvSpPr txBox="1"/>
          <p:nvPr/>
        </p:nvSpPr>
        <p:spPr>
          <a:xfrm>
            <a:off x="640080" y="5715000"/>
            <a:ext cx="10881360" cy="457200"/>
          </a:xfrm>
          <a:prstGeom prst="rect">
            <a:avLst/>
          </a:prstGeom>
          <a:noFill/>
        </p:spPr>
        <p:txBody>
          <a:bodyPr wrap="square" lIns="0" rIns="0" tIns="0" bIns="0">
            <a:spAutoFit/>
          </a:bodyPr>
          <a:lstStyle/>
          <a:p>
            <a:pPr algn="l">
              <a:spcAft>
                <a:spcPts val="600"/>
              </a:spcAft>
            </a:pPr>
            <a:r>
              <a:rPr sz="1400" b="1">
                <a:solidFill>
                  <a:srgbClr val="222222"/>
                </a:solidFill>
                <a:latin typeface="Arial"/>
              </a:rPr>
              <a:t>Proposal: 1 as the main plan, 2 as a pre-planned additional analysis; keep 10 answers per person.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881360" cy="731520"/>
          </a:xfrm>
          <a:prstGeom prst="rect">
            <a:avLst/>
          </a:prstGeom>
          <a:noFill/>
        </p:spPr>
        <p:txBody>
          <a:bodyPr wrap="square" lIns="0" tIns="0" rIns="0" bIns="0" anchor="t">
            <a:spAutoFit/>
          </a:bodyPr>
          <a:lstStyle/>
          <a:p>
            <a:pPr algn="l">
              <a:spcAft>
                <a:spcPts val="600"/>
              </a:spcAft>
            </a:pPr>
            <a:r>
              <a:rPr sz="2800" b="1">
                <a:solidFill>
                  <a:srgbClr val="222222"/>
                </a:solidFill>
                <a:latin typeface="Arial"/>
              </a:rPr>
              <a:t>Open questions</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tIns="0" rIns="0" bIns="0" anchor="t">
            <a:spAutoFit/>
          </a:bodyPr>
          <a:lstStyle/>
          <a:p>
            <a:pPr algn="l">
              <a:spcAft>
                <a:spcPts val="6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tIns="0" rIns="0" bIns="0" anchor="t">
            <a:spAutoFit/>
          </a:bodyPr>
          <a:lstStyle/>
          <a:p>
            <a:pPr algn="r">
              <a:spcAft>
                <a:spcPts val="600"/>
              </a:spcAft>
            </a:pPr>
            <a:r>
              <a:rPr sz="1000" b="0">
                <a:solidFill>
                  <a:srgbClr val="707070"/>
                </a:solidFill>
                <a:latin typeface="Arial"/>
              </a:rPr>
              <a:t>18</a:t>
            </a:r>
          </a:p>
        </p:txBody>
      </p:sp>
      <p:sp>
        <p:nvSpPr>
          <p:cNvPr id="6" name="TextBox 5"/>
          <p:cNvSpPr txBox="1"/>
          <p:nvPr/>
        </p:nvSpPr>
        <p:spPr>
          <a:xfrm>
            <a:off x="640080" y="1463040"/>
            <a:ext cx="10881360" cy="2000548"/>
          </a:xfrm>
          <a:prstGeom prst="rect">
            <a:avLst/>
          </a:prstGeom>
          <a:noFill/>
        </p:spPr>
        <p:txBody>
          <a:bodyPr wrap="square" lIns="0" tIns="0" rIns="0" bIns="0" anchor="t">
            <a:spAutoFit/>
          </a:bodyPr>
          <a:lstStyle/>
          <a:p>
            <a:pPr marL="342900" indent="-342900" algn="l">
              <a:spcAft>
                <a:spcPts val="1200"/>
              </a:spcAft>
              <a:buFont typeface="+mj-lt"/>
              <a:buAutoNum type="arabicPeriod"/>
            </a:pPr>
            <a:r>
              <a:rPr sz="1800" b="0" dirty="0">
                <a:solidFill>
                  <a:srgbClr val="222222"/>
                </a:solidFill>
                <a:latin typeface="Arial"/>
              </a:rPr>
              <a:t>Go for a test run in Bern</a:t>
            </a:r>
          </a:p>
          <a:p>
            <a:pPr marL="342900" indent="-342900" algn="l">
              <a:spcAft>
                <a:spcPts val="1200"/>
              </a:spcAft>
              <a:buFont typeface="+mj-lt"/>
              <a:buAutoNum type="arabicPeriod"/>
            </a:pPr>
            <a:r>
              <a:rPr lang="de-DE" sz="1800" b="0" dirty="0" err="1">
                <a:solidFill>
                  <a:srgbClr val="222222"/>
                </a:solidFill>
                <a:latin typeface="Arial"/>
              </a:rPr>
              <a:t>Is</a:t>
            </a:r>
            <a:r>
              <a:rPr lang="de-DE" sz="1800" b="0" dirty="0">
                <a:solidFill>
                  <a:srgbClr val="222222"/>
                </a:solidFill>
                <a:latin typeface="Arial"/>
              </a:rPr>
              <a:t> </a:t>
            </a:r>
            <a:r>
              <a:rPr sz="1800" b="0" dirty="0">
                <a:solidFill>
                  <a:srgbClr val="222222"/>
                </a:solidFill>
                <a:latin typeface="Arial"/>
              </a:rPr>
              <a:t>recruiting 60–70 participants realistic?</a:t>
            </a:r>
          </a:p>
          <a:p>
            <a:pPr marL="342900" indent="-342900" algn="l">
              <a:spcAft>
                <a:spcPts val="1200"/>
              </a:spcAft>
              <a:buFont typeface="+mj-lt"/>
              <a:buAutoNum type="arabicPeriod"/>
            </a:pPr>
            <a:r>
              <a:rPr sz="1800" b="0" dirty="0">
                <a:solidFill>
                  <a:srgbClr val="222222"/>
                </a:solidFill>
                <a:latin typeface="Arial"/>
              </a:rPr>
              <a:t>Keep or drop the questions on worries and mood</a:t>
            </a:r>
          </a:p>
          <a:p>
            <a:pPr marL="342900" indent="-342900" algn="l">
              <a:spcAft>
                <a:spcPts val="1200"/>
              </a:spcAft>
              <a:buFont typeface="+mj-lt"/>
              <a:buAutoNum type="arabicPeriod"/>
            </a:pPr>
            <a:r>
              <a:rPr sz="1800" b="0" dirty="0">
                <a:solidFill>
                  <a:srgbClr val="222222"/>
                </a:solidFill>
                <a:latin typeface="Arial"/>
              </a:rPr>
              <a:t>Is hosting the app on </a:t>
            </a:r>
            <a:r>
              <a:rPr sz="1800" b="0" dirty="0" err="1">
                <a:solidFill>
                  <a:srgbClr val="222222"/>
                </a:solidFill>
                <a:latin typeface="Arial"/>
              </a:rPr>
              <a:t>Streamlit</a:t>
            </a:r>
            <a:r>
              <a:rPr sz="1800" b="0" dirty="0">
                <a:solidFill>
                  <a:srgbClr val="222222"/>
                </a:solidFill>
                <a:latin typeface="Arial"/>
              </a:rPr>
              <a:t> Cloud OK</a:t>
            </a:r>
          </a:p>
          <a:p>
            <a:pPr marL="342900" indent="-342900" algn="l">
              <a:spcAft>
                <a:spcPts val="1200"/>
              </a:spcAft>
              <a:buFont typeface="+mj-lt"/>
              <a:buAutoNum type="arabicPeriod"/>
            </a:pPr>
            <a:r>
              <a:rPr sz="1800" b="0" dirty="0">
                <a:solidFill>
                  <a:srgbClr val="222222"/>
                </a:solidFill>
                <a:latin typeface="Arial"/>
              </a:rPr>
              <a:t>Munich: now, or later as a second phase</a:t>
            </a:r>
          </a:p>
          <a:p>
            <a:pPr marL="342900" indent="-342900" algn="l">
              <a:spcAft>
                <a:spcPts val="1200"/>
              </a:spcAft>
              <a:buFont typeface="+mj-lt"/>
              <a:buAutoNum type="arabicPeriod"/>
            </a:pPr>
            <a:r>
              <a:rPr sz="1800" b="0" dirty="0">
                <a:solidFill>
                  <a:srgbClr val="222222"/>
                </a:solidFill>
                <a:latin typeface="Arial"/>
              </a:rPr>
              <a:t>Decision question: is the wording OK? (the ethics committee will be informed)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731520"/>
          </a:xfrm>
          <a:prstGeom prst="rect">
            <a:avLst/>
          </a:prstGeom>
          <a:noFill/>
        </p:spPr>
        <p:txBody>
          <a:bodyPr wrap="square" lIns="0" rIns="0" tIns="0" bIns="0">
            <a:spAutoFit/>
          </a:bodyPr>
          <a:lstStyle/>
          <a:p>
            <a:pPr algn="l">
              <a:spcAft>
                <a:spcPts val="800"/>
              </a:spcAft>
            </a:pPr>
            <a:r>
              <a:rPr sz="2800" b="1">
                <a:solidFill>
                  <a:srgbClr val="222222"/>
                </a:solidFill>
                <a:latin typeface="Arial"/>
              </a:rPr>
              <a:t>New: does the answer change the decision?</a:t>
            </a:r>
          </a:p>
        </p:txBody>
      </p:sp>
      <p:cxnSp>
        <p:nvCxnSpPr>
          <p:cNvPr id="3" name="Connector 2"/>
          <p:cNvCxnSpPr/>
          <p:nvPr/>
        </p:nvCxnSpPr>
        <p:spPr>
          <a:xfrm>
            <a:off x="640080" y="1143000"/>
            <a:ext cx="10908792"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6400800"/>
            <a:ext cx="7315200" cy="274320"/>
          </a:xfrm>
          <a:prstGeom prst="rect">
            <a:avLst/>
          </a:prstGeom>
          <a:noFill/>
        </p:spPr>
        <p:txBody>
          <a:bodyPr wrap="square" lIns="0" rIns="0" tIns="0" bIns="0">
            <a:spAutoFit/>
          </a:bodyPr>
          <a:lstStyle/>
          <a:p>
            <a:pPr algn="l">
              <a:spcAft>
                <a:spcPts val="800"/>
              </a:spcAft>
            </a:pPr>
            <a:r>
              <a:rPr sz="1000" b="0">
                <a:solidFill>
                  <a:srgbClr val="707070"/>
                </a:solidFill>
                <a:latin typeface="Arial"/>
              </a:rPr>
              <a:t>empathicLLM patient study · 28.10.2026</a:t>
            </a:r>
          </a:p>
        </p:txBody>
      </p:sp>
      <p:sp>
        <p:nvSpPr>
          <p:cNvPr id="5" name="TextBox 4"/>
          <p:cNvSpPr txBox="1"/>
          <p:nvPr/>
        </p:nvSpPr>
        <p:spPr>
          <a:xfrm>
            <a:off x="10607040" y="6400800"/>
            <a:ext cx="941832" cy="274320"/>
          </a:xfrm>
          <a:prstGeom prst="rect">
            <a:avLst/>
          </a:prstGeom>
          <a:noFill/>
        </p:spPr>
        <p:txBody>
          <a:bodyPr wrap="square" lIns="0" rIns="0" tIns="0" bIns="0">
            <a:spAutoFit/>
          </a:bodyPr>
          <a:lstStyle/>
          <a:p>
            <a:pPr algn="r">
              <a:spcAft>
                <a:spcPts val="800"/>
              </a:spcAft>
            </a:pPr>
            <a:r>
              <a:rPr sz="1000" b="0">
                <a:solidFill>
                  <a:srgbClr val="707070"/>
                </a:solidFill>
                <a:latin typeface="Arial"/>
              </a:rPr>
              <a:t>11</a:t>
            </a:r>
          </a:p>
        </p:txBody>
      </p:sp>
      <p:pic>
        <p:nvPicPr>
          <p:cNvPr id="6" name="Picture 5" descr="5_decision.jpg"/>
          <p:cNvPicPr>
            <a:picLocks noChangeAspect="1"/>
          </p:cNvPicPr>
          <p:nvPr/>
        </p:nvPicPr>
        <p:blipFill>
          <a:blip r:embed="rId2"/>
          <a:stretch>
            <a:fillRect/>
          </a:stretch>
        </p:blipFill>
        <p:spPr>
          <a:xfrm>
            <a:off x="640080" y="1417320"/>
            <a:ext cx="2112654" cy="4572000"/>
          </a:xfrm>
          <a:prstGeom prst="rect">
            <a:avLst/>
          </a:prstGeom>
          <a:ln w="9525">
            <a:solidFill>
              <a:srgbClr val="BFBFBF"/>
            </a:solidFill>
          </a:ln>
        </p:spPr>
      </p:pic>
      <p:sp>
        <p:nvSpPr>
          <p:cNvPr id="7" name="TextBox 6"/>
          <p:cNvSpPr txBox="1"/>
          <p:nvPr/>
        </p:nvSpPr>
        <p:spPr>
          <a:xfrm>
            <a:off x="640080" y="6080760"/>
            <a:ext cx="2743200" cy="274320"/>
          </a:xfrm>
          <a:prstGeom prst="rect">
            <a:avLst/>
          </a:prstGeom>
          <a:noFill/>
        </p:spPr>
        <p:txBody>
          <a:bodyPr wrap="square" lIns="0" rIns="0" tIns="0" bIns="0">
            <a:spAutoFit/>
          </a:bodyPr>
          <a:lstStyle/>
          <a:p>
            <a:pPr algn="l">
              <a:spcAft>
                <a:spcPts val="800"/>
              </a:spcAft>
            </a:pPr>
            <a:r>
              <a:rPr sz="1200" b="0">
                <a:solidFill>
                  <a:srgbClr val="707070"/>
                </a:solidFill>
                <a:latin typeface="Arial"/>
              </a:rPr>
              <a:t>Second question after each answer</a:t>
            </a:r>
          </a:p>
        </p:txBody>
      </p:sp>
      <p:sp>
        <p:nvSpPr>
          <p:cNvPr id="8" name="TextBox 7"/>
          <p:cNvSpPr txBox="1"/>
          <p:nvPr/>
        </p:nvSpPr>
        <p:spPr>
          <a:xfrm>
            <a:off x="3108960" y="1463040"/>
            <a:ext cx="8412480" cy="4572000"/>
          </a:xfrm>
          <a:prstGeom prst="rect">
            <a:avLst/>
          </a:prstGeom>
          <a:noFill/>
        </p:spPr>
        <p:txBody>
          <a:bodyPr wrap="square" lIns="0" rIns="0" tIns="0" bIns="0">
            <a:spAutoFit/>
          </a:bodyPr>
          <a:lstStyle/>
          <a:p>
            <a:pPr algn="l">
              <a:spcAft>
                <a:spcPts val="1200"/>
              </a:spcAft>
            </a:pPr>
            <a:r>
              <a:rPr sz="1600" b="1">
                <a:solidFill>
                  <a:srgbClr val="222222"/>
                </a:solidFill>
                <a:latin typeface="Arial"/>
              </a:rPr>
              <a:t>Added on 28 Oct: </a:t>
            </a:r>
            <a:r>
              <a:rPr sz="1600" b="0">
                <a:solidFill>
                  <a:srgbClr val="222222"/>
                </a:solidFill>
                <a:latin typeface="Arial"/>
              </a:rPr>
              <a:t>not only whether an answer is empathic, but whether it changes patients' decisions.</a:t>
            </a:r>
          </a:p>
          <a:p>
            <a:pPr algn="l">
              <a:spcAft>
                <a:spcPts val="1200"/>
              </a:spcAft>
            </a:pPr>
            <a:r>
              <a:rPr sz="1600" b="1">
                <a:solidFill>
                  <a:srgbClr val="222222"/>
                </a:solidFill>
                <a:latin typeface="Arial"/>
              </a:rPr>
              <a:t>Patients, after each answer: </a:t>
            </a:r>
            <a:r>
              <a:rPr sz="1600" b="0">
                <a:solidFill>
                  <a:srgbClr val="222222"/>
                </a:solidFill>
                <a:latin typeface="Arial"/>
              </a:rPr>
              <a:t>more certain … less certain about their decision on the PSMA therapy (+2 to −2)</a:t>
            </a:r>
          </a:p>
          <a:p>
            <a:pPr algn="l">
              <a:spcAft>
                <a:spcPts val="1200"/>
              </a:spcAft>
            </a:pPr>
            <a:r>
              <a:rPr sz="1600" b="1">
                <a:solidFill>
                  <a:srgbClr val="222222"/>
                </a:solidFill>
                <a:latin typeface="Arial"/>
              </a:rPr>
              <a:t>Doctors, after each answer: </a:t>
            </a:r>
            <a:r>
              <a:rPr sz="1600" b="0">
                <a:solidFill>
                  <a:srgbClr val="222222"/>
                </a:solidFill>
                <a:latin typeface="Arial"/>
              </a:rPr>
              <a:t>would you give this answer to a patient – as is / with changes / no</a:t>
            </a:r>
          </a:p>
          <a:p>
            <a:pPr algn="l">
              <a:spcAft>
                <a:spcPts val="1200"/>
              </a:spcAft>
            </a:pPr>
            <a:r>
              <a:rPr sz="1600" b="1">
                <a:solidFill>
                  <a:srgbClr val="222222"/>
                </a:solidFill>
                <a:latin typeface="Arial"/>
              </a:rPr>
              <a:t>Patients, before and after: </a:t>
            </a:r>
            <a:r>
              <a:rPr sz="1600" b="0">
                <a:solidFill>
                  <a:srgbClr val="222222"/>
                </a:solidFill>
                <a:latin typeface="Arial"/>
              </a:rPr>
              <a:t>SURE test, 4 yes/no questions on decisional conflict</a:t>
            </a:r>
          </a:p>
          <a:p>
            <a:pPr algn="l">
              <a:spcAft>
                <a:spcPts val="1200"/>
              </a:spcAft>
            </a:pPr>
            <a:r>
              <a:rPr sz="1600" b="1">
                <a:solidFill>
                  <a:srgbClr val="222222"/>
                </a:solidFill>
                <a:latin typeface="Arial"/>
              </a:rPr>
              <a:t>Main comparison: </a:t>
            </a:r>
            <a:r>
              <a:rPr sz="1600" b="0">
                <a:solidFill>
                  <a:srgbClr val="222222"/>
                </a:solidFill>
                <a:latin typeface="Arial"/>
              </a:rPr>
              <a:t>do Two-Stage answers make patients more certain than Clinical Only answers?</a:t>
            </a:r>
          </a:p>
          <a:p>
            <a:pPr algn="l">
              <a:spcAft>
                <a:spcPts val="1200"/>
              </a:spcAft>
            </a:pPr>
            <a:r>
              <a:rPr sz="1600" b="1">
                <a:solidFill>
                  <a:srgbClr val="222222"/>
                </a:solidFill>
                <a:latin typeface="Arial"/>
              </a:rPr>
              <a:t>Safety: </a:t>
            </a:r>
            <a:r>
              <a:rPr sz="1600" b="0">
                <a:solidFill>
                  <a:srgbClr val="222222"/>
                </a:solidFill>
                <a:latin typeface="Arial"/>
              </a:rPr>
              <a:t>patients who end the study less certain see a note to talk to their care team; the ethics committee will be informed.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2045</Words>
  <Application>Microsoft Office PowerPoint</Application>
  <PresentationFormat>Breitbild</PresentationFormat>
  <Paragraphs>221</Paragraphs>
  <Slides>16</Slides>
  <Notes>15</Notes>
  <HiddenSlides>1</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16</vt:i4>
      </vt:variant>
    </vt:vector>
  </HeadingPairs>
  <TitlesOfParts>
    <vt:vector size="20"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Koller, Pia Elisabeth (STUDENTS)</cp:lastModifiedBy>
  <cp:revision>1</cp:revision>
  <dcterms:created xsi:type="dcterms:W3CDTF">2013-01-27T09:14:16Z</dcterms:created>
  <dcterms:modified xsi:type="dcterms:W3CDTF">2026-10-28T07:47:48Z</dcterms:modified>
  <cp:category/>
</cp:coreProperties>
</file>